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f347bfbc8652520417bcabcf70a9a6b.png">    </p:cNvPr>
          <p:cNvPicPr>
            <a:picLocks noChangeAspect="1"/>
          </p:cNvPicPr>
          <p:nvPr/>
        </p:nvPicPr>
        <p:blipFill>
          <a:blip r:embed="rId1"/>
          <a:srcRect l="0" r="0" t="-408" b="-408"/>
          <a:stretch/>
        </p:blipFill>
        <p:spPr>
          <a:xfrm>
            <a:off x="1333195" y="4953305"/>
            <a:ext cx="1904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195" y="1333195"/>
            <a:ext cx="2286000" cy="761695"/>
          </a:xfrm>
          <a:prstGeom prst="rect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34694" y="1591056"/>
            <a:ext cx="20866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KAWAGUCHI YEG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3047695"/>
            <a:ext cx="15621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3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協賛管理システム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5429707"/>
            <a:ext cx="15621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spc="60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要件定義書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1333195" y="6238951"/>
            <a:ext cx="15621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300" kern="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Sponsorship Management System — Requirements Specification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8382305"/>
            <a:ext cx="1562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 Apps Script + Google Workspace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144500" y="8953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Version 2.0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144500" y="9277502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2026.06 / 川口YEG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953305" cy="10287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e9c1d2ce095ae1e0d3fb9dc631114cde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857707" y="5333695"/>
            <a:ext cx="761695" cy="384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333195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CONTENTS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1876349"/>
            <a:ext cx="3620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目次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2935224"/>
            <a:ext cx="36201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本書は川口YEG協賛管理システムの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要件を全20章で定義した文書です。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780337"/>
            <a:ext cx="5905195" cy="1920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0" y="1333195"/>
            <a:ext cx="59061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PART 1 — 全体像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2104949"/>
          <a:ext cx="5906110" cy="5429707"/>
        </p:xfrm>
        <a:graphic>
          <a:graphicData uri="http://schemas.openxmlformats.org/drawingml/2006/table">
            <a:tbl>
              <a:tblPr/>
              <a:tblGrid>
                <a:gridCol w="476402"/>
                <a:gridCol w="5429707"/>
              </a:tblGrid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01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表紙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02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目次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03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改訂履歴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04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システム概要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05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導入の目的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06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現状の課題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07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解決方針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08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業務フロー（As-Is）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09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業務フロー（To-Be）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10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機能要件 全体俯瞰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12096598" y="1780337"/>
            <a:ext cx="5333695" cy="1920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2096598" y="1333195"/>
            <a:ext cx="533461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PART 2 — 要件詳細</a:t>
            </a:r>
            <a:endParaRPr lang="en-US" sz="1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096598" y="2104949"/>
          <a:ext cx="5334610" cy="5429707"/>
        </p:xfrm>
        <a:graphic>
          <a:graphicData uri="http://schemas.openxmlformats.org/drawingml/2006/table">
            <a:tbl>
              <a:tblPr/>
              <a:tblGrid>
                <a:gridCol w="476402"/>
                <a:gridCol w="4858207"/>
              </a:tblGrid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11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機能要件 詳細①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12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機能要件 詳細②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13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非機能・画面要件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14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データ・外部連携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15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権限・セキュリティ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16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制約条件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17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想定リスク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18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開発スケジュール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19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今後の拡張案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サマリ・残課題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715000" y="9620402"/>
            <a:ext cx="11621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476195"/>
            <a:ext cx="8001000" cy="495330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476195"/>
            <a:ext cx="57607" cy="49533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15500" y="2476195"/>
            <a:ext cx="7429500" cy="495330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pic>
        <p:nvPicPr>
          <p:cNvPr id="9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38130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 / 20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85800"/>
            <a:ext cx="5715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文書情報・改訂履歴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904695"/>
            <a:ext cx="8001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📋 文書情報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2762402"/>
          <a:ext cx="7239305" cy="4038905"/>
        </p:xfrm>
        <a:graphic>
          <a:graphicData uri="http://schemas.openxmlformats.org/drawingml/2006/table">
            <a:tbl>
              <a:tblPr/>
              <a:tblGrid>
                <a:gridCol w="1904695"/>
                <a:gridCol w="5333695"/>
              </a:tblGrid>
              <a:tr h="673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文書名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川口YEG 協賛管理システム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要件定義書</a:t>
                      </a:r>
                      <a:endParaRPr lang="en-US" sz="1200" dirty="0"/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バージョン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2.0（確定版）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作成日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2026年6月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発注主体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川口商工会議所青年部（川口YEG）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開発基盤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Google Apps Script + Google Workspace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1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マイルストーン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2026年6月29日 登録フォーム稼働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0" marR="0" marT="171907" marB="171907" anchor="ctr">
                    <a:lnL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9715500" y="1904695"/>
            <a:ext cx="7429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📝 改訂履歴</a:t>
            </a:r>
            <a:endParaRPr lang="en-US" sz="1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96805" y="2762402"/>
          <a:ext cx="6667805" cy="2190902"/>
        </p:xfrm>
        <a:graphic>
          <a:graphicData uri="http://schemas.openxmlformats.org/drawingml/2006/table">
            <a:tbl>
              <a:tblPr/>
              <a:tblGrid>
                <a:gridCol w="761695"/>
                <a:gridCol w="1333195"/>
                <a:gridCol w="4572000"/>
              </a:tblGrid>
              <a:tr h="7303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版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日付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改訂内容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730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1.0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2026.06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初版ドラフト作成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730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2.0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2026.06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追加ヒアリング回答を反映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コース体系・座席ロジック・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スケジュールを確定</a:t>
                      </a:r>
                      <a:endParaRPr lang="en-US" sz="1200" dirty="0"/>
                    </a:p>
                  </a:txBody>
                  <a:tcPr marL="114300" marR="1143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904695"/>
            <a:ext cx="16002000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4190695"/>
            <a:ext cx="6858000" cy="1143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" name="Shape 6"/>
          <p:cNvSpPr/>
          <p:nvPr/>
        </p:nvSpPr>
        <p:spPr>
          <a:xfrm>
            <a:off x="10287000" y="4190695"/>
            <a:ext cx="57607" cy="11430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5524805"/>
            <a:ext cx="6858000" cy="1143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10287000" y="5524805"/>
            <a:ext cx="57607" cy="1143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0" y="6858000"/>
            <a:ext cx="6858000" cy="1143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7000" y="6858000"/>
            <a:ext cx="57607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8287207"/>
            <a:ext cx="16002000" cy="857707"/>
          </a:xfrm>
          <a:prstGeom prst="rect">
            <a:avLst/>
          </a:prstGeom>
          <a:solidFill>
            <a:srgbClr val="FFF8E7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14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 / 20 — CHAPTER 01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システム概要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2152498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CONCEPT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2476195"/>
            <a:ext cx="15240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花火大会・周年事業の協賛管理を、</a:t>
            </a:r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GAS + Google Workspace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で一気通貫に自動化するWebシステム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3000" y="3619195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14907" y="3619195"/>
            <a:ext cx="84005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システム属性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114800"/>
          <a:ext cx="8572500" cy="2800807"/>
        </p:xfrm>
        <a:graphic>
          <a:graphicData uri="http://schemas.openxmlformats.org/drawingml/2006/table">
            <a:tbl>
              <a:tblPr/>
              <a:tblGrid>
                <a:gridCol w="1904695"/>
                <a:gridCol w="6667805"/>
              </a:tblGrid>
              <a:tr h="5601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システム名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川口YEG 協賛管理システム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1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発注主体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川口商工会議所青年部（川口YEG）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1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請求書発行元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川口商工会議所（インボイス番号なし）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1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基盤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Webアプリ + スプレッドシートUI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1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並行運用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同時に1事業のみ（花火 or 周年）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14300" marR="114300" marT="152705" marB="1527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10287000" y="3619195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458907" y="3619195"/>
            <a:ext cx="66860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利用者と役割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0668305" y="4381805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INTERNAL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668305" y="4629607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川口商工会議所職員（事務局）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0668305" y="4972507"/>
            <a:ext cx="6096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データ管理／URL発行／帳票送信／入金確認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0668305" y="5715000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0668305" y="5962802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協賛者（協賛企業・団体）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0668305" y="6305702"/>
            <a:ext cx="6096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個別URL経由でフォーム入力のみ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0668305" y="7048195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VIEWER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0668305" y="7295998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役員・関係者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0668305" y="7638898"/>
            <a:ext cx="6096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集計レポートの閲覧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524305" y="8496605"/>
            <a:ext cx="152403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▎特徴</a:t>
            </a:r>
            <a:pPr algn="l" indent="0" marL="0">
              <a:buNone/>
            </a:pPr>
            <a:r>
              <a:rPr lang="en-US" sz="13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毎年の事業ごとにプロジェクトを</a:t>
            </a:r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複製運用</a:t>
            </a:r>
            <a:pPr algn="l" indent="0" marL="0">
              <a:buNone/>
            </a:pPr>
            <a:r>
              <a:rPr lang="en-US" sz="13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でき、ゼロから構築せずに即座に稼働可能。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協賛者の</a:t>
            </a:r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直接入力</a:t>
            </a:r>
            <a:pPr algn="l" indent="0" marL="0">
              <a:buNone/>
            </a:pPr>
            <a:r>
              <a:rPr lang="en-US" sz="13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から</a:t>
            </a:r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帳票送付・座席自動割当</a:t>
            </a:r>
            <a:pPr algn="l" indent="0" marL="0">
              <a:buNone/>
            </a:pPr>
            <a:r>
              <a:rPr lang="en-US" sz="13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まで人手を介さず流せる構成。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572207"/>
            <a:ext cx="8001000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572207"/>
            <a:ext cx="8001000" cy="384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4195" y="2572207"/>
            <a:ext cx="8001000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34195" y="2572207"/>
            <a:ext cx="8001000" cy="384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4667098"/>
            <a:ext cx="8001000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4667098"/>
            <a:ext cx="8001000" cy="384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34195" y="4667098"/>
            <a:ext cx="8001000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34195" y="4667098"/>
            <a:ext cx="8001000" cy="3840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6762902"/>
            <a:ext cx="16192195" cy="1904695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 / 20 — CHAPTER 02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システム導入の目的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業務効率化・運用負荷軽減を実現する </a:t>
            </a:r>
            <a:pPr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5つの目的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を定義する。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24305" y="2838298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3409798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転記業務の撤廃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524305" y="3791102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メール受信内容のExcel手転記をなくし、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協賛者の直接入力で一次データ精度を担保。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715500" y="2838298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9715500" y="3409798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完全メールPDF化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3791102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請求書・案内文・お礼状を全てPDF送付に統一し、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印刷・郵送業務をゼロに。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4934102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5505602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ステータス一元管理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5" y="5886907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入金・送付ステータスを一元管理し、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対応漏れ・督促漏れを防止する。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4934102"/>
            <a:ext cx="723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6"/>
          <p:cNvSpPr txBox="1"/>
          <p:nvPr/>
        </p:nvSpPr>
        <p:spPr>
          <a:xfrm>
            <a:off x="9715500" y="5505602"/>
            <a:ext cx="7239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座席自動割当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15500" y="5886907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協賛ランク連動・隣接配置の自動割当により、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属人作業を解消する。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524305" y="7029907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</a:t>
            </a:r>
            <a:endParaRPr lang="en-US" sz="3600" dirty="0"/>
          </a:p>
        </p:txBody>
      </p:sp>
      <p:sp>
        <p:nvSpPr>
          <p:cNvPr id="32" name="Text 29"/>
          <p:cNvSpPr txBox="1"/>
          <p:nvPr/>
        </p:nvSpPr>
        <p:spPr>
          <a:xfrm>
            <a:off x="1524305" y="7601407"/>
            <a:ext cx="1543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毎年の即運用体制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5" y="7981798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テンプレート複製で年度プロジェクトを即座に立ち上げ可能とし、</a:t>
            </a:r>
            <a:pPr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立ち上げ工数の固定発生を撤廃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する。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67305"/>
            <a:ext cx="16002000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06 / 20 — CHAPTER 03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現状の課題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手作業中心の運用により、</a:t>
            </a:r>
            <a:pPr algn="l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工数・転記ミス・対応漏れ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の3つの構造的課題が発生している。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857500"/>
          <a:ext cx="15621610" cy="4810658"/>
        </p:xfrm>
        <a:graphic>
          <a:graphicData uri="http://schemas.openxmlformats.org/drawingml/2006/table">
            <a:tbl>
              <a:tblPr/>
              <a:tblGrid>
                <a:gridCol w="761695"/>
                <a:gridCol w="8382305"/>
                <a:gridCol w="6476695"/>
              </a:tblGrid>
              <a:tr h="6872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No.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課題内容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影響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687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C-1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協賛情報をメール受信し、職員がExcelへ手作業で転記している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工数大・転記ミス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C-2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請求書・案内文・お礼状を1件ずつメール送信および印刷郵送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工数大・送付漏れ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687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C-3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入金状況の管理が個別ファイル・記憶依存になっている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進捗不透明・督促漏れ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C-4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送付状況（請求書／案内文／お礼状）の追跡が困難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二重送付・未送付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687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C-5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座席割り振りが手作業（特に隣接配置の調整が困難）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直前負荷集中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C-6</a:t>
                      </a:r>
                      <a:endParaRPr lang="en-US" sz="15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毎年同じ仕組みを再構築している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立ち上げ工数の固定発生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90195" marR="190195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572207"/>
            <a:ext cx="5238598" cy="19046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72207"/>
            <a:ext cx="57607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24244" y="2572207"/>
            <a:ext cx="5238598" cy="19046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9" name="Shape 7"/>
          <p:cNvSpPr/>
          <p:nvPr/>
        </p:nvSpPr>
        <p:spPr>
          <a:xfrm>
            <a:off x="6524244" y="2572207"/>
            <a:ext cx="57607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402" y="2572207"/>
            <a:ext cx="5238598" cy="19046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11906402" y="2572207"/>
            <a:ext cx="57607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4667098"/>
            <a:ext cx="5238598" cy="19046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4667098"/>
            <a:ext cx="57607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4244" y="4667098"/>
            <a:ext cx="5238598" cy="19046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4244" y="4667098"/>
            <a:ext cx="57607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06402" y="4667098"/>
            <a:ext cx="5238598" cy="19046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906402" y="4667098"/>
            <a:ext cx="57607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6762902"/>
            <a:ext cx="16002000" cy="1904695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 / 20 — CHAPTER 04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解決方針</a:t>
            </a:r>
            <a:endParaRPr lang="en-US" sz="27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7つのコンポーネントで現状課題を構造的に解消する。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476756" y="2809951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 — FRONT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476756" y="3076956"/>
            <a:ext cx="4715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入力フロント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76756" y="3457346"/>
            <a:ext cx="4715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GAS Webアプリ（HTML Service）。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事務局が個別URLを発行する運用。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2809951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 — STORE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076956"/>
            <a:ext cx="4715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データストア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0" y="3457346"/>
            <a:ext cx="4715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Googleスプレッドシートを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正データベースとして運用。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2239244" y="2809951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 — NOTIFY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2239244" y="3076956"/>
            <a:ext cx="4715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自動通知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2239244" y="3457346"/>
            <a:ext cx="4715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登録時に協賛者・事務局へ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Gmail自動送信。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476756" y="4905756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 — DOCUMENT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476756" y="5171846"/>
            <a:ext cx="4715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帳票自動生成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476756" y="5553151"/>
            <a:ext cx="4715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Googleドキュメント差込 → PDF化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印影挿入 → Gmail送付 → ドライブ保存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4905756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 — STATUS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5171846"/>
            <a:ext cx="4715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ステータス管理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5553151"/>
            <a:ext cx="4715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入金／請求書／案内文／お礼状を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列管理＋ボタン操作で更新。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2239244" y="4905756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06 — SEATING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2239244" y="5171846"/>
            <a:ext cx="47155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座席自動割当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2239244" y="5553151"/>
            <a:ext cx="4715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入金確定をトリガーに、ランク連動で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必要卓数を隣接確保。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524305" y="7029907"/>
            <a:ext cx="1524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 — REPLICATION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524305" y="7315200"/>
            <a:ext cx="15240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プロジェクト複製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1524305" y="7724851"/>
            <a:ext cx="1524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マスタテンプレを GAS で複製し、毎年の事業（花火大会・周年事業）を独立したプロジェクトとして即運用。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67305"/>
            <a:ext cx="2667305" cy="1333195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6902" y="2667305"/>
            <a:ext cx="2667305" cy="133319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0805" y="266730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707" y="266730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77695" y="266730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77695" y="476219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44707" y="476219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0805" y="476219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6902" y="4762195"/>
            <a:ext cx="2667305" cy="1333195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6953098"/>
            <a:ext cx="16002000" cy="2286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5049195" y="571500"/>
            <a:ext cx="2095805" cy="571500"/>
          </a:xfrm>
          <a:prstGeom prst="rect">
            <a:avLst/>
          </a:prstGeom>
          <a:solidFill>
            <a:srgbClr val="C53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05402" y="323880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0" y="47549"/>
                </a:moveTo>
                <a:lnTo>
                  <a:pt x="333482" y="47549"/>
                </a:lnTo>
                <a:lnTo>
                  <a:pt x="333482" y="0"/>
                </a:lnTo>
                <a:lnTo>
                  <a:pt x="476402" y="95098"/>
                </a:lnTo>
                <a:lnTo>
                  <a:pt x="333482" y="190195"/>
                </a:lnTo>
                <a:lnTo>
                  <a:pt x="333482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19" name="Shape 16"/>
          <p:cNvSpPr/>
          <p:nvPr/>
        </p:nvSpPr>
        <p:spPr>
          <a:xfrm>
            <a:off x="7239305" y="323880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0" y="47549"/>
                </a:moveTo>
                <a:lnTo>
                  <a:pt x="333482" y="47549"/>
                </a:lnTo>
                <a:lnTo>
                  <a:pt x="333482" y="0"/>
                </a:lnTo>
                <a:lnTo>
                  <a:pt x="476402" y="95098"/>
                </a:lnTo>
                <a:lnTo>
                  <a:pt x="333482" y="190195"/>
                </a:lnTo>
                <a:lnTo>
                  <a:pt x="333482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0" name="Shape 17"/>
          <p:cNvSpPr/>
          <p:nvPr/>
        </p:nvSpPr>
        <p:spPr>
          <a:xfrm>
            <a:off x="10573207" y="323880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0" y="47549"/>
                </a:moveTo>
                <a:lnTo>
                  <a:pt x="333482" y="47549"/>
                </a:lnTo>
                <a:lnTo>
                  <a:pt x="333482" y="0"/>
                </a:lnTo>
                <a:lnTo>
                  <a:pt x="476402" y="95098"/>
                </a:lnTo>
                <a:lnTo>
                  <a:pt x="333482" y="190195"/>
                </a:lnTo>
                <a:lnTo>
                  <a:pt x="333482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1" name="Shape 18"/>
          <p:cNvSpPr/>
          <p:nvPr/>
        </p:nvSpPr>
        <p:spPr>
          <a:xfrm>
            <a:off x="13906195" y="323880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0" y="47549"/>
                </a:moveTo>
                <a:lnTo>
                  <a:pt x="333482" y="47549"/>
                </a:lnTo>
                <a:lnTo>
                  <a:pt x="333482" y="0"/>
                </a:lnTo>
                <a:lnTo>
                  <a:pt x="476402" y="95098"/>
                </a:lnTo>
                <a:lnTo>
                  <a:pt x="333482" y="190195"/>
                </a:lnTo>
                <a:lnTo>
                  <a:pt x="333482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2" name="Shape 19"/>
          <p:cNvSpPr/>
          <p:nvPr/>
        </p:nvSpPr>
        <p:spPr>
          <a:xfrm>
            <a:off x="15716707" y="4095598"/>
            <a:ext cx="190195" cy="476402"/>
          </a:xfrm>
          <a:custGeom>
            <a:avLst/>
            <a:gdLst/>
            <a:ahLst/>
            <a:cxnLst/>
            <a:rect l="l" t="t" r="r" b="b"/>
            <a:pathLst>
              <a:path w="190195" h="476402">
                <a:moveTo>
                  <a:pt x="47549" y="0"/>
                </a:moveTo>
                <a:lnTo>
                  <a:pt x="142646" y="0"/>
                </a:lnTo>
                <a:lnTo>
                  <a:pt x="142646" y="333482"/>
                </a:lnTo>
                <a:lnTo>
                  <a:pt x="190195" y="333482"/>
                </a:lnTo>
                <a:lnTo>
                  <a:pt x="95098" y="476402"/>
                </a:lnTo>
                <a:lnTo>
                  <a:pt x="0" y="333482"/>
                </a:lnTo>
                <a:lnTo>
                  <a:pt x="47549" y="333482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3" name="Shape 20"/>
          <p:cNvSpPr/>
          <p:nvPr/>
        </p:nvSpPr>
        <p:spPr>
          <a:xfrm>
            <a:off x="14097305" y="533369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476402" y="47549"/>
                </a:moveTo>
                <a:lnTo>
                  <a:pt x="142921" y="47549"/>
                </a:lnTo>
                <a:lnTo>
                  <a:pt x="142921" y="0"/>
                </a:lnTo>
                <a:lnTo>
                  <a:pt x="0" y="95098"/>
                </a:lnTo>
                <a:lnTo>
                  <a:pt x="142921" y="190195"/>
                </a:lnTo>
                <a:lnTo>
                  <a:pt x="142921" y="142646"/>
                </a:lnTo>
                <a:lnTo>
                  <a:pt x="476402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4" name="Shape 21"/>
          <p:cNvSpPr/>
          <p:nvPr/>
        </p:nvSpPr>
        <p:spPr>
          <a:xfrm>
            <a:off x="10763402" y="533369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476402" y="47549"/>
                </a:moveTo>
                <a:lnTo>
                  <a:pt x="142921" y="47549"/>
                </a:lnTo>
                <a:lnTo>
                  <a:pt x="142921" y="0"/>
                </a:lnTo>
                <a:lnTo>
                  <a:pt x="0" y="95098"/>
                </a:lnTo>
                <a:lnTo>
                  <a:pt x="142921" y="190195"/>
                </a:lnTo>
                <a:lnTo>
                  <a:pt x="142921" y="142646"/>
                </a:lnTo>
                <a:lnTo>
                  <a:pt x="476402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5" name="Shape 22"/>
          <p:cNvSpPr/>
          <p:nvPr/>
        </p:nvSpPr>
        <p:spPr>
          <a:xfrm>
            <a:off x="7429500" y="5333695"/>
            <a:ext cx="476402" cy="190195"/>
          </a:xfrm>
          <a:custGeom>
            <a:avLst/>
            <a:gdLst/>
            <a:ahLst/>
            <a:cxnLst/>
            <a:rect l="l" t="t" r="r" b="b"/>
            <a:pathLst>
              <a:path w="476402" h="190195">
                <a:moveTo>
                  <a:pt x="476402" y="47549"/>
                </a:moveTo>
                <a:lnTo>
                  <a:pt x="142921" y="47549"/>
                </a:lnTo>
                <a:lnTo>
                  <a:pt x="142921" y="0"/>
                </a:lnTo>
                <a:lnTo>
                  <a:pt x="0" y="95098"/>
                </a:lnTo>
                <a:lnTo>
                  <a:pt x="142921" y="190195"/>
                </a:lnTo>
                <a:lnTo>
                  <a:pt x="142921" y="142646"/>
                </a:lnTo>
                <a:lnTo>
                  <a:pt x="476402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43000" y="381305"/>
            <a:ext cx="1333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08 / 20 — CHAPTER 05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685800"/>
            <a:ext cx="13335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業務フロー（As-Is）— 現状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15049195" y="743407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CURRENT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手作業中心の現状フロー。</a:t>
            </a:r>
            <a:pPr algn="l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転記・郵送・目視確認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が業務のボトルネック。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238098" y="283829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01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238098" y="31619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238098" y="354330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メール送信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283829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0" y="31619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事務局受信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354330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メール受信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905902" y="283829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905902" y="31619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Excel手転記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905902" y="354330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転記ミスリスク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239805" y="283829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239805" y="31619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請求書Word作成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1239805" y="354330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1件ずつ手作業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4573707" y="2838298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4573707" y="3161995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メール/印刷郵送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4573707" y="354330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送付漏れリスク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4573707" y="4934102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4573707" y="5257800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入金確認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14573707" y="563910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銀行通帳目視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1239805" y="4934102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1239805" y="5257800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Excel手入力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11239805" y="563910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入金ステータス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7905902" y="4934102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905902" y="5257800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座席手作業割当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7905902" y="563910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直前負荷集中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0" y="4934102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0" y="5257800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お礼状郵送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572000" y="5639105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印刷・郵送作業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1524305" y="7239305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BOTTLENECKS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7696505"/>
          <a:ext cx="15240305" cy="857707"/>
        </p:xfrm>
        <a:graphic>
          <a:graphicData uri="http://schemas.openxmlformats.org/drawingml/2006/table">
            <a:tbl>
              <a:tblPr/>
              <a:tblGrid>
                <a:gridCol w="5080102"/>
                <a:gridCol w="5080102"/>
                <a:gridCol w="5080102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6箇所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手作業ポイントが業務フロー内に存在</a:t>
                      </a:r>
                      <a:endParaRPr lang="en-US" sz="1200" dirty="0"/>
                    </a:p>
                  </a:txBody>
                  <a:tcPr marL="0" marR="286207" marT="75895" marB="75895" anchor="t">
                    <a:lnL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2重登録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メール→Excelへの転記によるミス</a:t>
                      </a:r>
                      <a:endParaRPr lang="en-US" sz="1200" dirty="0"/>
                    </a:p>
                  </a:txBody>
                  <a:tcPr marL="286207" marR="286207" marT="75895" marB="75895" anchor="t">
                    <a:lnL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追跡困難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送付・入金状況が記憶依存</a:t>
                      </a:r>
                      <a:endParaRPr lang="en-US" sz="1200" dirty="0"/>
                    </a:p>
                  </a:txBody>
                  <a:tcPr marL="286207" marR="0" marT="75895" marB="75895" anchor="t">
                    <a:lnL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9" name="Text 55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572207"/>
            <a:ext cx="16002000" cy="1619402"/>
          </a:xfrm>
          <a:prstGeom prst="rect">
            <a:avLst/>
          </a:prstGeom>
          <a:solidFill>
            <a:srgbClr val="F0FD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4381805"/>
            <a:ext cx="16002000" cy="1619402"/>
          </a:xfrm>
          <a:prstGeom prst="rect">
            <a:avLst/>
          </a:prstGeom>
          <a:solidFill>
            <a:srgbClr val="F0F9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6191402"/>
            <a:ext cx="16002000" cy="161940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8001000"/>
            <a:ext cx="16002000" cy="1333195"/>
          </a:xfrm>
          <a:prstGeom prst="rect">
            <a:avLst/>
          </a:prstGeom>
          <a:solidFill>
            <a:srgbClr val="2F85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5049195" y="571500"/>
            <a:ext cx="2095805" cy="571500"/>
          </a:xfrm>
          <a:prstGeom prst="rect">
            <a:avLst/>
          </a:prstGeom>
          <a:solidFill>
            <a:srgbClr val="2F85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4098" y="2809951"/>
            <a:ext cx="2857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0" y="2809951"/>
            <a:ext cx="2857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91902" y="2809951"/>
            <a:ext cx="2857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525805" y="2809951"/>
            <a:ext cx="3429000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4098" y="4619549"/>
            <a:ext cx="2857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0" y="4619549"/>
            <a:ext cx="3619195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53598" y="4619549"/>
            <a:ext cx="2857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287500" y="4619549"/>
            <a:ext cx="2667305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24098" y="6429146"/>
            <a:ext cx="28575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6429146"/>
            <a:ext cx="3429000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63402" y="6429146"/>
            <a:ext cx="3429000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4668805" y="6429146"/>
            <a:ext cx="22860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76695" y="3286354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2F855A"/>
          </a:solidFill>
          <a:ln/>
        </p:spPr>
      </p:sp>
      <p:sp>
        <p:nvSpPr>
          <p:cNvPr id="25" name="Shape 22"/>
          <p:cNvSpPr/>
          <p:nvPr/>
        </p:nvSpPr>
        <p:spPr>
          <a:xfrm>
            <a:off x="9810598" y="3286354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2F855A"/>
          </a:solidFill>
          <a:ln/>
        </p:spPr>
      </p:sp>
      <p:sp>
        <p:nvSpPr>
          <p:cNvPr id="26" name="Shape 23"/>
          <p:cNvSpPr/>
          <p:nvPr/>
        </p:nvSpPr>
        <p:spPr>
          <a:xfrm>
            <a:off x="13144500" y="3286354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2F855A"/>
          </a:solidFill>
          <a:ln/>
        </p:spPr>
      </p:sp>
      <p:sp>
        <p:nvSpPr>
          <p:cNvPr id="27" name="Shape 24"/>
          <p:cNvSpPr/>
          <p:nvPr/>
        </p:nvSpPr>
        <p:spPr>
          <a:xfrm>
            <a:off x="6476695" y="5095951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8" name="Shape 25"/>
          <p:cNvSpPr/>
          <p:nvPr/>
        </p:nvSpPr>
        <p:spPr>
          <a:xfrm>
            <a:off x="10573207" y="5095951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9" name="Shape 26"/>
          <p:cNvSpPr/>
          <p:nvPr/>
        </p:nvSpPr>
        <p:spPr>
          <a:xfrm>
            <a:off x="13906195" y="5095951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0" name="Shape 27"/>
          <p:cNvSpPr/>
          <p:nvPr/>
        </p:nvSpPr>
        <p:spPr>
          <a:xfrm>
            <a:off x="6476695" y="6905549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82098" y="6905549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32" name="Shape 29"/>
          <p:cNvSpPr/>
          <p:nvPr/>
        </p:nvSpPr>
        <p:spPr>
          <a:xfrm>
            <a:off x="14287500" y="6905549"/>
            <a:ext cx="286207" cy="190195"/>
          </a:xfrm>
          <a:custGeom>
            <a:avLst/>
            <a:gdLst/>
            <a:ahLst/>
            <a:cxnLst/>
            <a:rect l="l" t="t" r="r" b="b"/>
            <a:pathLst>
              <a:path w="286207" h="190195">
                <a:moveTo>
                  <a:pt x="0" y="47549"/>
                </a:moveTo>
                <a:lnTo>
                  <a:pt x="200345" y="47549"/>
                </a:lnTo>
                <a:lnTo>
                  <a:pt x="200345" y="0"/>
                </a:lnTo>
                <a:lnTo>
                  <a:pt x="286207" y="95098"/>
                </a:lnTo>
                <a:lnTo>
                  <a:pt x="200345" y="190195"/>
                </a:lnTo>
                <a:lnTo>
                  <a:pt x="200345" y="142646"/>
                </a:lnTo>
                <a:lnTo>
                  <a:pt x="0" y="142646"/>
                </a:lnTo>
                <a:close/>
              </a:path>
            </a:pathLst>
          </a:custGeom>
          <a:solidFill>
            <a:srgbClr val="C9A96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43000" y="381305"/>
            <a:ext cx="1333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09 / 20 — CHAPTER 05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685800"/>
            <a:ext cx="13335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業務フロー（To-Be）— 導入後</a:t>
            </a:r>
            <a:endParaRPr lang="en-US" sz="2700" dirty="0"/>
          </a:p>
        </p:txBody>
      </p:sp>
      <p:sp>
        <p:nvSpPr>
          <p:cNvPr id="35" name="Text 32"/>
          <p:cNvSpPr txBox="1"/>
          <p:nvPr/>
        </p:nvSpPr>
        <p:spPr>
          <a:xfrm>
            <a:off x="15049195" y="743407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FUTURE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人手作業は</a:t>
            </a:r>
            <a:pPr algn="l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「内容確認」と「入金確認」のみ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。それ以外は全てシステムが自動実行。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333195" y="2714854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333195" y="2962656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登録・受付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3619195" y="2971800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3619195" y="3209544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プロジェクト作成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3619195" y="3495751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テンプレ複製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6953098" y="2971800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6953098" y="3209544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個別URL発行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953098" y="3495751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協賛者へ案内送付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0287000" y="2971800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0287000" y="3209544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フォーム入力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0287000" y="3495751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コース選択・送信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3620902" y="2971800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⚡ AUTO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13620902" y="3209544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DB登録＋受付メール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13620902" y="3495751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協賛者/事務局へ自動通知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333195" y="4524451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2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333195" y="4772254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請求・入金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3619195" y="4781398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3619195" y="5020056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内容確認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3619195" y="5305349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「請求書送信」クリック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6953098" y="4781398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⚡ AUTO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6953098" y="502005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請求書PDF生成・送付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6953098" y="5305349"/>
            <a:ext cx="3429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印影差込・Gmail・Drive保存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11048695" y="4781398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商工会議所担当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11048695" y="5020056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入金確認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1048695" y="5305349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通帳目視→ステータス更新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14382598" y="4781398"/>
            <a:ext cx="2477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⚡ AUTO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14382598" y="5020056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座席自動割当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14382598" y="5305349"/>
            <a:ext cx="2477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ランク連動・隣接配置</a:t>
            </a:r>
            <a:endParaRPr lang="en-US" sz="900" dirty="0"/>
          </a:p>
        </p:txBody>
      </p:sp>
      <p:sp>
        <p:nvSpPr>
          <p:cNvPr id="65" name="Text 62"/>
          <p:cNvSpPr txBox="1"/>
          <p:nvPr/>
        </p:nvSpPr>
        <p:spPr>
          <a:xfrm>
            <a:off x="1333195" y="6334049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3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1333195" y="6581851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案内・完了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3619195" y="6590995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3619195" y="6829654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案内文送信</a:t>
            </a:r>
            <a:endParaRPr lang="en-US" sz="1300" dirty="0"/>
          </a:p>
        </p:txBody>
      </p:sp>
      <p:sp>
        <p:nvSpPr>
          <p:cNvPr id="69" name="Text 66"/>
          <p:cNvSpPr txBox="1"/>
          <p:nvPr/>
        </p:nvSpPr>
        <p:spPr>
          <a:xfrm>
            <a:off x="3619195" y="7114946"/>
            <a:ext cx="2667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ボタンクリック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6953098" y="6590995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⚡ AUTO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6953098" y="6829654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案内文PDF送付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6953098" y="7114946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座席情報差込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10858500" y="6590995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⚡ AUTO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10858500" y="6829654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お礼状PDF送付</a:t>
            </a:r>
            <a:endParaRPr lang="en-US" sz="1300" dirty="0"/>
          </a:p>
        </p:txBody>
      </p:sp>
      <p:sp>
        <p:nvSpPr>
          <p:cNvPr id="75" name="Text 72"/>
          <p:cNvSpPr txBox="1"/>
          <p:nvPr/>
        </p:nvSpPr>
        <p:spPr>
          <a:xfrm>
            <a:off x="10858500" y="7114946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事業完了後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14763902" y="6590995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</a:t>
            </a:r>
            <a:endParaRPr lang="en-US" sz="900" dirty="0"/>
          </a:p>
        </p:txBody>
      </p:sp>
      <p:sp>
        <p:nvSpPr>
          <p:cNvPr id="77" name="Text 74"/>
          <p:cNvSpPr txBox="1"/>
          <p:nvPr/>
        </p:nvSpPr>
        <p:spPr>
          <a:xfrm>
            <a:off x="14763902" y="6829654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アーカイブ</a:t>
            </a:r>
            <a:endParaRPr lang="en-US" sz="1300" dirty="0"/>
          </a:p>
        </p:txBody>
      </p:sp>
      <p:sp>
        <p:nvSpPr>
          <p:cNvPr id="78" name="Text 75"/>
          <p:cNvSpPr txBox="1"/>
          <p:nvPr/>
        </p:nvSpPr>
        <p:spPr>
          <a:xfrm>
            <a:off x="14763902" y="7114946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プロジェクト完了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1524305" y="8287207"/>
            <a:ext cx="1524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✓ EFFECTS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8648395"/>
          <a:ext cx="15240305" cy="609905"/>
        </p:xfrm>
        <a:graphic>
          <a:graphicData uri="http://schemas.openxmlformats.org/drawingml/2006/table">
            <a:tbl>
              <a:tblPr/>
              <a:tblGrid>
                <a:gridCol w="5080102"/>
                <a:gridCol w="5080102"/>
                <a:gridCol w="5080102"/>
              </a:tblGrid>
              <a:tr h="609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8E7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手作業 6 → 2 箇所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「内容確認」「入金確認」のみ</a:t>
                      </a:r>
                      <a:endParaRPr lang="en-US" sz="1200" dirty="0"/>
                    </a:p>
                  </a:txBody>
                  <a:tcPr marL="0" marR="286207" marT="0" marB="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8E7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転記ミス ゼロ化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協賛者の直接入力に統一</a:t>
                      </a:r>
                      <a:endParaRPr lang="en-US" sz="1200" dirty="0"/>
                    </a:p>
                  </a:txBody>
                  <a:tcPr marL="286207" marR="286207" marT="0" marB="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8E7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郵送業務 ゼロ化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完全メールPDF化</a:t>
                      </a:r>
                      <a:endParaRPr lang="en-US" sz="1200" dirty="0"/>
                    </a:p>
                  </a:txBody>
                  <a:tcPr marL="286207" marR="0" marT="0" marB="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1" name="Text 77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67305"/>
            <a:ext cx="5238598" cy="1904695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667305"/>
            <a:ext cx="5238598" cy="758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24244" y="2667305"/>
            <a:ext cx="5238598" cy="190469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24244" y="2667305"/>
            <a:ext cx="5238598" cy="758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402" y="2667305"/>
            <a:ext cx="5238598" cy="190469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06402" y="2667305"/>
            <a:ext cx="5238598" cy="758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4762195"/>
            <a:ext cx="5238598" cy="190469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4762195"/>
            <a:ext cx="5238598" cy="758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4244" y="4762195"/>
            <a:ext cx="5238598" cy="190469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4244" y="4762195"/>
            <a:ext cx="5238598" cy="758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06402" y="4762195"/>
            <a:ext cx="5238598" cy="1904695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06402" y="4762195"/>
            <a:ext cx="5238598" cy="758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6858000"/>
            <a:ext cx="16002000" cy="1904695"/>
          </a:xfrm>
          <a:prstGeom prst="rect">
            <a:avLst/>
          </a:prstGeom>
          <a:solidFill>
            <a:srgbClr val="0F29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6858000"/>
            <a:ext cx="16002000" cy="758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pic>
        <p:nvPicPr>
          <p:cNvPr id="20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 / 20 — CHAPTER 06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機能要件 — 全体俯瞰（MECE整理）</a:t>
            </a:r>
            <a:endParaRPr lang="en-US" sz="27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機能を </a:t>
            </a:r>
            <a:pPr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7カテゴリ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にMECE分類。次ページ以降で各機能を詳細化する。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476756" y="293339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F-1 / 5機能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476756" y="3258007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協賛者向け入力機能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1476756" y="372435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URL認証フォーム／バリデーション／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完了画面／受付メール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293339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F-2 / 7機能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0" y="3258007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データ管理機能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0" y="372435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スプレッドシート登録／入金・送付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ステータス／期日アラート／詳細閲覧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2239244" y="293339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F-3 / 6機能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2239244" y="3258007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帳票・通知自動化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12239244" y="372435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請求書／案内文／お礼状の自動生成・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送信／印影差込／一括送信／ログ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76756" y="5029200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F-4 / 7機能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476756" y="5352898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座席自動割当機能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1476756" y="58201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座席マスタ／コース別卓数管理／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隣接配置自動割当／手動再調整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5029200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F-5 / 5機能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5352898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マスタ管理機能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6858000" y="58201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協賛コース／文面テンプレ／事業情報／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印影／送信元マスタ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2239244" y="5029200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F-6 / 3機能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2239244" y="5352898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プロジェクト管理機能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12239244" y="58201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プロジェクト新規作成（複製）／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一覧表示／アーカイブ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524305" y="7125005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F-7 / 4機能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524305" y="7448702"/>
            <a:ext cx="15430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レポート・集計機能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1524305" y="7915046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協賛集計（コース別件数・合計金額）／入金状況サマリ（未回収・期日超過）／送付状況サマリ／座席使用状況可視化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333195" y="9001354"/>
            <a:ext cx="1581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1（6/29納期）の最優先機能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2以降の機能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143000" y="9059875"/>
            <a:ext cx="114300" cy="1143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451860" y="9059875"/>
            <a:ext cx="114300" cy="1143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09598"/>
            <a:ext cx="5333695" cy="7239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7805" y="1809598"/>
            <a:ext cx="5333695" cy="7239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1695" y="1809598"/>
            <a:ext cx="4953305" cy="7239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43000" y="1809598"/>
            <a:ext cx="5333695" cy="76169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67805" y="1809598"/>
            <a:ext cx="5333695" cy="7616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191695" y="1809598"/>
            <a:ext cx="4953305" cy="7616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 / 20 — CHAPTER 06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機能要件 詳細① — F-1〜F-3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1981505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210105"/>
            <a:ext cx="4953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協賛者向け入力機能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762402"/>
          <a:ext cx="4953305" cy="3419856"/>
        </p:xfrm>
        <a:graphic>
          <a:graphicData uri="http://schemas.openxmlformats.org/drawingml/2006/table">
            <a:tbl>
              <a:tblPr/>
              <a:tblGrid>
                <a:gridCol w="666598"/>
                <a:gridCol w="4286707"/>
              </a:tblGrid>
              <a:tr h="683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F-1-1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協賛入力フォーム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事務局発行URLでアクセス、協賛情報を登録</a:t>
                      </a:r>
                      <a:endParaRPr lang="en-US" sz="1200" dirty="0"/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F-1-2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URLトークン認証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1協賛者1URL（推測困難なトークン付）</a:t>
                      </a:r>
                      <a:endParaRPr lang="en-US" sz="1200" dirty="0"/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F-1-3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入力バリデーション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必須／メール形式／金額／コース選択</a:t>
                      </a:r>
                      <a:endParaRPr lang="en-US" sz="1200" dirty="0"/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F-1-4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入力完了画面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受付番号・控え内容表示</a:t>
                      </a:r>
                      <a:endParaRPr lang="en-US" sz="1200" dirty="0"/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9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F-1-5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受付確認メール自動送信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協賛者宛・事務局宛 双方に送信</a:t>
                      </a:r>
                      <a:endParaRPr lang="en-US" sz="1200" dirty="0"/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858000" y="1981505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F-2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2210105"/>
            <a:ext cx="4953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データ管理機能</a:t>
            </a:r>
            <a:endParaRPr lang="en-US" sz="18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762402"/>
          <a:ext cx="4953305" cy="4325112"/>
        </p:xfrm>
        <a:graphic>
          <a:graphicData uri="http://schemas.openxmlformats.org/drawingml/2006/table">
            <a:tbl>
              <a:tblPr/>
              <a:tblGrid>
                <a:gridCol w="666598"/>
                <a:gridCol w="4286707"/>
              </a:tblGrid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F-2-1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スプレッドシート自動登録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フォーム送信内容を所定シートへ追記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F-2-2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入金ステータス管理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未入金／入金済／一部入金／キャンセル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F-2-3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送付ステータス管理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請求書／案内文／お礼状ごとに 未送付／送付済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F-2-4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入金期日自動計算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申込日 + 14日を自動設定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F-2-5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期日超過アラート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未入金かつ期日超過をハイライト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F-2-6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一覧検索・絞込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協賛者名／コース／ステータス／金額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8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F-2-7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明細詳細閲覧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行クリックで詳細モーダル表示</a:t>
                      </a:r>
                      <a:endParaRPr lang="en-US" sz="1200" dirty="0"/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12382805" y="198150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2382805" y="2210105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帳票・通知自動化</a:t>
            </a:r>
            <a:endParaRPr lang="en-US" sz="18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82805" y="2762402"/>
          <a:ext cx="4572000" cy="3934663"/>
        </p:xfrm>
        <a:graphic>
          <a:graphicData uri="http://schemas.openxmlformats.org/drawingml/2006/table">
            <a:tbl>
              <a:tblPr/>
              <a:tblGrid>
                <a:gridCol w="666598"/>
                <a:gridCol w="3905402"/>
              </a:tblGrid>
              <a:tr h="655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F-3-1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請求書自動生成・送信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差込→PDF（印影）→Gmail→Drive保存</a:t>
                      </a:r>
                      <a:endParaRPr lang="en-US" sz="1200" dirty="0"/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F-3-2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案内文自動生成・送信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座席情報・開催日時を差込</a:t>
                      </a:r>
                      <a:endParaRPr lang="en-US" sz="1200" dirty="0"/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F-3-3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お礼状自動生成・送信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事業完了後、メールPDFで送付</a:t>
                      </a:r>
                      <a:endParaRPr lang="en-US" sz="1200" dirty="0"/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F-3-4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一括送信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条件抽出した複数件をまとめて送信</a:t>
                      </a:r>
                      <a:endParaRPr lang="en-US" sz="1200" dirty="0"/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F-3-5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送付ログ記録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日時・送信者・PDF保存URL</a:t>
                      </a:r>
                      <a:endParaRPr lang="en-US" sz="1200" dirty="0"/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F-3-6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印影画像差込</a:t>
                      </a:r>
                      <a:pPr indent="0" marL="0">
                        <a:spcAft>
                          <a:spcPts val="225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テンプレ指定位置にPNG挿入</a:t>
                      </a:r>
                      <a:endParaRPr lang="en-US" sz="1200" dirty="0"/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18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09598"/>
            <a:ext cx="8572500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05695" y="1809598"/>
            <a:ext cx="7239305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6096305"/>
            <a:ext cx="5238598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6096305"/>
            <a:ext cx="5238598" cy="57607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4244" y="6096305"/>
            <a:ext cx="5238598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4244" y="6096305"/>
            <a:ext cx="5238598" cy="57607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06402" y="6096305"/>
            <a:ext cx="5238598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06402" y="6096305"/>
            <a:ext cx="5238598" cy="57607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pic>
        <p:nvPicPr>
          <p:cNvPr id="14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143000" y="1809598"/>
            <a:ext cx="8572500" cy="666598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05695" y="1809598"/>
            <a:ext cx="7239305" cy="666598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 / 20 — CHAPTER 06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機能要件 詳細② — F-4〜F-7 ＋ 協賛コース</a:t>
            </a:r>
            <a:endParaRPr lang="en-US" sz="27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1962302"/>
            <a:ext cx="8192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2180844"/>
            <a:ext cx="8192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座席自動割当機能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619756"/>
          <a:ext cx="8192110" cy="2724912"/>
        </p:xfrm>
        <a:graphic>
          <a:graphicData uri="http://schemas.openxmlformats.org/drawingml/2006/table">
            <a:tbl>
              <a:tblPr/>
              <a:tblGrid>
                <a:gridCol w="619049"/>
                <a:gridCol w="1524305"/>
                <a:gridCol w="6048756"/>
              </a:tblGrid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F-4-1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座席マスタ管理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卓ID／隣接卓ID／定員4／使用状況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F-4-2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コース別必要卓数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S=特別席／A=5卓／B=4卓／C=3卓／D=2卓／E=1卓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F-4-3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自動割当ロジック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入金確定トリガーで隣接配置を確保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F-4-4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割当順序制御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初期実装は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入金確定順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F-4-5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手動再調整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スプレッドシート上で上書き可能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F-4-6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割当結果出力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案内文差込・座席表PDF出力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F-4-7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割当不能時アラート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隣接卓が確保できない場合に事務局へ通知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10096805" y="1962302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F-5 / 協賛コースマスタ（確定値）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0096805" y="2180844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協賛コース体系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96805" y="2619756"/>
          <a:ext cx="6858000" cy="3143707"/>
        </p:xfrm>
        <a:graphic>
          <a:graphicData uri="http://schemas.openxmlformats.org/drawingml/2006/table">
            <a:tbl>
              <a:tblPr/>
              <a:tblGrid>
                <a:gridCol w="761695"/>
                <a:gridCol w="1615745"/>
                <a:gridCol w="2204618"/>
                <a:gridCol w="2275942"/>
              </a:tblGrid>
              <a:tr h="4491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ID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コース名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金額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座席（卓数）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491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S協賛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2,000,000円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特別席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</a:tr>
              <a:tr h="4491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A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A協賛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1,000,000円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5卓（20名）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1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B協賛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500,000円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4卓（16名）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1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C協賛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300,000円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3卓（12名）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1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D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D協賛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200,000円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2卓（8名）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1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E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E協賛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100,000円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1卓（4名）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0"/>
          <p:cNvSpPr txBox="1"/>
          <p:nvPr/>
        </p:nvSpPr>
        <p:spPr>
          <a:xfrm>
            <a:off x="10096805" y="5876849"/>
            <a:ext cx="6858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1卓4名／A〜D協賛は隣接配置必須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333195" y="6286500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F-5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333195" y="6534302"/>
            <a:ext cx="4953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マスタ管理機能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333195" y="6972300"/>
            <a:ext cx="495330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協賛コース／金額／卓数マスタ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文面テンプレートマスタ（請求書／案内文／お礼状）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事業情報マスタ（開催日・会場・締切）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印影マスタ（角印PNG）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送信元マスタ（送信元・署名）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715354" y="6286500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F-6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6715354" y="6534302"/>
            <a:ext cx="4953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プロジェクト管理機能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715354" y="6972300"/>
            <a:ext cx="495330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プロジェクト新規作成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（テンプレ複製で年度プロジェクト一式を生成）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過去・現行プロジェクトの一覧表示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終了プロジェクトの自動アーカイブ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（所定ドライブフォルダへ移動）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2096598" y="6286500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F-7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2096598" y="6534302"/>
            <a:ext cx="4953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レポート・集計機能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12096598" y="6972300"/>
            <a:ext cx="495330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協賛集計（コース別件数・合計金額）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入金状況サマリ（未回収・期日超過）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送付状況サマリ（帳票別 送付済／未送付）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座席使用状況の可視化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（確保済／空き卓）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86000"/>
            <a:ext cx="8001000" cy="70481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30207" y="2286000"/>
            <a:ext cx="7715707" cy="70481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 / 20 — CHAPTER 07・08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非機能要件 ＆ 画面要件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143000" y="18095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14907" y="1809598"/>
            <a:ext cx="78290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非機能要件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476195"/>
          <a:ext cx="7620610" cy="3801161"/>
        </p:xfrm>
        <a:graphic>
          <a:graphicData uri="http://schemas.openxmlformats.org/drawingml/2006/table">
            <a:tbl>
              <a:tblPr/>
              <a:tblGrid>
                <a:gridCol w="1238098"/>
                <a:gridCol w="6381598"/>
              </a:tblGrid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性能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フォーム送信3秒以内／一括送信は分割（GAS 6分制限対応）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可用性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Google Workspace SLAに準拠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同時利用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 5〜10名／協賛者ピーク 50件/時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拡張性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プロジェクト追加に伴うコード改修不要（マスタ駆動）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保守性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モジュール分割・コメント必須・命名規約統一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操作性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事務局はスプレッドシートのカスタムメニューで完結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バックアップ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ドライブ版履歴 + 週次でドライブ別フォルダへ複製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1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ログ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操作ログ（誰が・いつ・何を）をログシート記録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9430207" y="18095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02114" y="1809598"/>
            <a:ext cx="75438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画面要件（7画面）</a:t>
            </a:r>
            <a:endParaRPr lang="en-US" sz="16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2476195"/>
          <a:ext cx="7334402" cy="3525012"/>
        </p:xfrm>
        <a:graphic>
          <a:graphicData uri="http://schemas.openxmlformats.org/drawingml/2006/table">
            <a:tbl>
              <a:tblPr/>
              <a:tblGrid>
                <a:gridCol w="523951"/>
                <a:gridCol w="1904695"/>
                <a:gridCol w="1047902"/>
                <a:gridCol w="3857854"/>
              </a:tblGrid>
              <a:tr h="440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画面名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利用者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主機能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S-01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協賛入力フォーム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URL認証・情報入力・送信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S-02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入力完了画面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受付番号・控え表示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S-03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協賛一覧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スプレッドシート＋ボタン操作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S-04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協賛詳細モーダル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1件詳細・ステータス・送信操作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S-05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プロジェクト管理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管理者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プロジェクト作成・一覧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S-06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座席割当状況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卓配置と協賛者の対応表示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0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S-07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集計レポート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事務局・役員</a:t>
                      </a:r>
                      <a:endParaRPr lang="en-US" sz="97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件数・金額・進捗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9620402" y="6229807"/>
            <a:ext cx="7334402" cy="1037844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18" name="Shape 13"/>
          <p:cNvSpPr/>
          <p:nvPr/>
        </p:nvSpPr>
        <p:spPr>
          <a:xfrm>
            <a:off x="9620402" y="6229807"/>
            <a:ext cx="38405" cy="103784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829800" y="6400800"/>
            <a:ext cx="6954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💡 実装方針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829800" y="6667805"/>
            <a:ext cx="69540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協賛者向け（S-01/S-02）：GAS HTML Service + シンプルCSS（PC/スマホ対応）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事務局向け（S-03〜S-07）：スプレッドシート + サイドバー／モーダル（HtmlService）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86000"/>
            <a:ext cx="10287000" cy="70481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20195" y="2286000"/>
            <a:ext cx="5524805" cy="70481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14 / 20 — CHAPTER 09・10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データ要件 ＆ 外部連携要件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143000" y="18095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14907" y="1809598"/>
            <a:ext cx="101150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データ要件 — 主要シート構成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476195"/>
          <a:ext cx="9906610" cy="4439412"/>
        </p:xfrm>
        <a:graphic>
          <a:graphicData uri="http://schemas.openxmlformats.org/drawingml/2006/table">
            <a:tbl>
              <a:tblPr/>
              <a:tblGrid>
                <a:gridCol w="1904695"/>
                <a:gridCol w="1238098"/>
                <a:gridCol w="6762902"/>
              </a:tblGrid>
              <a:tr h="443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シート名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主キー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主な項目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協賛データ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受付番号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会社名／担当者／メール／コース／金額／申込日／入金期日／各種ステータス／座席卓ID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協賛コースマスタ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コースID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コース名／金額／卓数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座席マスタ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卓ID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卓名／隣接卓ID／定員(4)／使用状況／割当先受付番号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テンプレマスタ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テンプレID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種別／ドキュメントURL／印影差込位置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事業情報マスタ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事業ID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事業名／開催日時／会場／締切／担当者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送付ログ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ログID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受付番号／種別／送付日時／送信者／PDF URL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操作ログ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ログID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操作者／操作内容／対象／日時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URL発行管理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トークン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受付予定者名／発行日／使用済フラグ／受付番号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39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プロジェクト一覧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プロジェクトID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名称／作成日／状態／関連フォルダURL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23444" marB="1234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1333195" y="7105802"/>
            <a:ext cx="9905695" cy="752551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15" name="Shape 11"/>
          <p:cNvSpPr/>
          <p:nvPr/>
        </p:nvSpPr>
        <p:spPr>
          <a:xfrm>
            <a:off x="1333195" y="7105802"/>
            <a:ext cx="38405" cy="752551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524305" y="7258507"/>
            <a:ext cx="9563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📅 データ保持期間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524305" y="7505395"/>
            <a:ext cx="9563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現行プロジェクト：常時アクセス／過去プロジェクト：5年間アーカイブ保存（ドライブ）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1620195" y="18095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792102" y="1809598"/>
            <a:ext cx="535289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外部連携要件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1811305" y="247619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🔴 必須連携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1811305" y="2819095"/>
            <a:ext cx="5143500" cy="647395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22" name="Shape 18"/>
          <p:cNvSpPr/>
          <p:nvPr/>
        </p:nvSpPr>
        <p:spPr>
          <a:xfrm>
            <a:off x="11811305" y="2819095"/>
            <a:ext cx="38405" cy="6473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982298" y="2933395"/>
            <a:ext cx="4839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Gmail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1982298" y="3172054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メール送信全般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811305" y="3562502"/>
            <a:ext cx="5143500" cy="647395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26" name="Shape 22"/>
          <p:cNvSpPr/>
          <p:nvPr/>
        </p:nvSpPr>
        <p:spPr>
          <a:xfrm>
            <a:off x="11811305" y="3562502"/>
            <a:ext cx="38405" cy="6473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1982298" y="3676802"/>
            <a:ext cx="4839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Googleドライブ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11982298" y="3914546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PDF保存・テンプレ・印影管理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1811305" y="4304995"/>
            <a:ext cx="5143500" cy="647395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30" name="Shape 26"/>
          <p:cNvSpPr/>
          <p:nvPr/>
        </p:nvSpPr>
        <p:spPr>
          <a:xfrm>
            <a:off x="11811305" y="4304995"/>
            <a:ext cx="38405" cy="6473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1982298" y="4419295"/>
            <a:ext cx="4839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Googleドキュメント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1982298" y="4657954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帳票テンプレート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1811305" y="518190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🟢 任意連携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11811305" y="5524805"/>
            <a:ext cx="5143500" cy="647395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5" name="Shape 31"/>
          <p:cNvSpPr/>
          <p:nvPr/>
        </p:nvSpPr>
        <p:spPr>
          <a:xfrm>
            <a:off x="11811305" y="5524805"/>
            <a:ext cx="38405" cy="64739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1982298" y="5639105"/>
            <a:ext cx="4839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Googleカレンダー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11982298" y="5876849"/>
            <a:ext cx="4839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事業日程登録・締切リマインド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11811305" y="64008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💡 将来の拡張提案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1811305" y="6743700"/>
            <a:ext cx="51435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銀行明細CSV取込（入金消込半自動化）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Looker Studio によるダッシュボード化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• Slack / LINE WORKS 通知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86000"/>
            <a:ext cx="8001000" cy="4381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7429500"/>
            <a:ext cx="8001000" cy="1904695"/>
          </a:xfrm>
          <a:prstGeom prst="rect">
            <a:avLst/>
          </a:prstGeom>
          <a:solidFill>
            <a:srgbClr val="F8F9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30207" y="2286000"/>
            <a:ext cx="7715707" cy="7048195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 / 20 — CHAPTER 11・12・13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権限管理 ＆ セキュリティ ＆ 運用保守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143000" y="18095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14907" y="1809598"/>
            <a:ext cx="78290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権限管理要件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476195"/>
          <a:ext cx="7620610" cy="2934310"/>
        </p:xfrm>
        <a:graphic>
          <a:graphicData uri="http://schemas.openxmlformats.org/drawingml/2006/table">
            <a:tbl>
              <a:tblPr/>
              <a:tblGrid>
                <a:gridCol w="2190902"/>
                <a:gridCol w="5429707"/>
              </a:tblGrid>
              <a:tr h="489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ロール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権限範囲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489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システム管理者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全機能・マスタ編集・プロジェクト作成・コード保守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（商工会議所職員）</a:t>
                      </a:r>
                      <a:endParaRPr lang="en-US" sz="1200" dirty="0"/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データ閲覧・編集・ステータス更新・帳票送信・URL発行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89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入金確認担当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入金ステータス更新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役員（閲覧者）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レポート閲覧のみ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89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協賛者（外部）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個別URL経由のフォーム入力のみ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95098" marR="950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1333195" y="5562295"/>
            <a:ext cx="7619695" cy="485546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6" name="Shape 12"/>
          <p:cNvSpPr/>
          <p:nvPr/>
        </p:nvSpPr>
        <p:spPr>
          <a:xfrm>
            <a:off x="1333195" y="5562295"/>
            <a:ext cx="38405" cy="48554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505102" y="569579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事務局・役員は </a:t>
            </a:r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Googleアカウント</a:t>
            </a:r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で認証／協賛者は </a:t>
            </a:r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個別トークン付URL</a:t>
            </a:r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で認証（Googleアカウント不要）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143000" y="69530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314907" y="6953098"/>
            <a:ext cx="782909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運用保守要件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7619695"/>
          <a:ext cx="7620610" cy="1619402"/>
        </p:xfrm>
        <a:graphic>
          <a:graphicData uri="http://schemas.openxmlformats.org/drawingml/2006/table">
            <a:tbl>
              <a:tblPr/>
              <a:tblGrid>
                <a:gridCol w="1238098"/>
                <a:gridCol w="6381598"/>
              </a:tblGrid>
              <a:tr h="32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運用主体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川口商工会議所職員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マニュアル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事務局向け／協賛者向けの操作マニュアル提供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障害時対応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GAS実行エラーは管理者へ自動通知メール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年次保守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開催前にテンプレ・マスタ更新／URL一括発行作業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バックアップ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週次でドライブ別フォルダへ複製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5895" marR="75895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9430207" y="1809598"/>
            <a:ext cx="38405" cy="3044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602114" y="1809598"/>
            <a:ext cx="754380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セキュリティ要件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9715500" y="3401568"/>
            <a:ext cx="7144207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715500" y="2743200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URL認証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9715500" y="3000146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協賛者URLは </a:t>
            </a:r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ランダム生成トークン（128bit以上）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を付与し、推測不可とする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715500" y="4239158"/>
            <a:ext cx="7144207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15500" y="3581705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トークン1回利用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9715500" y="3838651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送信後は使用済フラグで再利用不可（または編集制限）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715500" y="5077663"/>
            <a:ext cx="7144207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715500" y="4419295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データ共有範囲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9715500" y="4677156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スプレッドシート共有範囲は事務局のみに限定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9715500" y="5916168"/>
            <a:ext cx="7144207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715500" y="5257800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メール送信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9715500" y="5514746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BCC使用禁止・</a:t>
            </a:r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個別送信を徹底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（誤送信防止）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9715500" y="6753758"/>
            <a:ext cx="7144207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715500" y="6096305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機密情報管理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9715500" y="6353251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スクリプトプロパティでAPIキー・送信元情報を管理（コード直書き禁止）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9715500" y="7592263"/>
            <a:ext cx="7144207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715500" y="6933895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操作ログ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9715500" y="7191756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操作ログをログシートに記録（誰が・いつ・何を）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9715500" y="7772400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🔐 PDFパスワード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9715500" y="8029346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運用上の理由から </a:t>
            </a:r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付与しない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（不要）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67305"/>
            <a:ext cx="16002000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8477402"/>
            <a:ext cx="16002000" cy="857707"/>
          </a:xfrm>
          <a:prstGeom prst="rect">
            <a:avLst/>
          </a:prstGeom>
          <a:solidFill>
            <a:srgbClr val="FEF2F2"/>
          </a:solidFill>
          <a:ln w="25400">
            <a:solidFill>
              <a:srgbClr val="C53030"/>
            </a:solidFill>
            <a:prstDash val="solid"/>
          </a:ln>
        </p:spPr>
      </p:sp>
      <p:pic>
        <p:nvPicPr>
          <p:cNvPr id="8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16 / 20 — CHAPTER 14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制約条件 — Workspace エディション比較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無償アカウントと Business Standard 以上で実現範囲を比較。</a:t>
            </a:r>
            <a:pPr algn="l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本番運用は Business Standard 以上を強く推奨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857500"/>
          <a:ext cx="15621610" cy="4867351"/>
        </p:xfrm>
        <a:graphic>
          <a:graphicData uri="http://schemas.openxmlformats.org/drawingml/2006/table">
            <a:tbl>
              <a:tblPr/>
              <a:tblGrid>
                <a:gridCol w="4686300"/>
                <a:gridCol w="4686300"/>
                <a:gridCol w="4686300"/>
                <a:gridCol w="1561795"/>
              </a:tblGrid>
              <a:tr h="442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機能カテゴリ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無償（@gmail.com）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 Standard 以上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推奨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GAS実行・Webアプリ公開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✓ 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✓ 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9CA3A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—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Gmail送信上限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500通/日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1,500通/日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独自ドメインメール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✕ 不可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✓ 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Googleドライブ容量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15GB（個人）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2TB～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共有ドライブ（チーム所有）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✕ 不可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✓ 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GAS実行時間/日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90分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6時間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URLフェッチ/日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20,000回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100,000回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メール受信者数/日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100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1,500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監査ログ・管理者制御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✕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✓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総合判断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FCA5A5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試作・小規模運用は可能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75" dirty="0">
                          <a:solidFill>
                            <a:srgbClr val="FCA5A5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本格運用は推奨せず</a:t>
                      </a:r>
                      <a:endParaRPr lang="en-US" sz="1200" dirty="0"/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本番運用に必須レベル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★★★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524305" y="8686800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🔴 推奨：</a:t>
            </a:r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本件は事業主体が商工会議所であり、信頼性・送信ドメイン・実行時間の観点から </a:t>
            </a:r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Business Standard 以上の利用を強く推奨</a:t>
            </a:r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します。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67305"/>
            <a:ext cx="16002000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17 / 20 — CHAPTER 15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想定リスクと対策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本システムの主要リスクは </a:t>
            </a:r>
            <a:pPr algn="l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8項目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。それぞれに具体的対策を定義済み。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857500"/>
          <a:ext cx="15621610" cy="4972507"/>
        </p:xfrm>
        <a:graphic>
          <a:graphicData uri="http://schemas.openxmlformats.org/drawingml/2006/table">
            <a:tbl>
              <a:tblPr/>
              <a:tblGrid>
                <a:gridCol w="761695"/>
                <a:gridCol w="6476695"/>
                <a:gridCol w="8382305"/>
              </a:tblGrid>
              <a:tr h="5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No.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リスク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対策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4"/>
                    </a:solidFill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R-1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個別URLの転送・流出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トークン1回利用制限・使用済管理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R-2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Gmail送信上限超過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Business利用前提・送信スケジューリング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R-3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GAS仕様変更（Google側）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半年に1回の動作確認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R-4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同時編集の競合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LockServiceで排他制御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R-5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座席隣接配置不能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割当不能時に事務局アラート・手動調整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R-6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入金確認の人手依存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期日超過自動アラート・督促メール自動化（拡張）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R-7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1A1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テンプレート差込崩れ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F855A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テスト用受付番号で送信前プレビュー機能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R-8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⚠ 6/29 納期遅延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5303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Phase 1スコープを「登録フォーム+データ登録+受付メール」に絞る</a:t>
                      </a:r>
                      <a:endParaRPr lang="en-US" sz="1125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33502" marR="133502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572207"/>
            <a:ext cx="16002000" cy="1904695"/>
          </a:xfrm>
          <a:prstGeom prst="rect">
            <a:avLst/>
          </a:prstGeom>
          <a:solidFill>
            <a:srgbClr val="FFF8E7"/>
          </a:solidFill>
          <a:ln w="381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4667098"/>
            <a:ext cx="16002000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6381598"/>
            <a:ext cx="7905902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9098" y="6381598"/>
            <a:ext cx="7905902" cy="152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8191195"/>
            <a:ext cx="16002000" cy="1143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97305" y="476402"/>
            <a:ext cx="3047695" cy="857707"/>
          </a:xfrm>
          <a:prstGeom prst="rect">
            <a:avLst/>
          </a:prstGeom>
          <a:solidFill>
            <a:srgbClr val="C53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2572207"/>
            <a:ext cx="2286000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43000" y="4667098"/>
            <a:ext cx="2286000" cy="152430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3000" y="6381598"/>
            <a:ext cx="1524305" cy="1524305"/>
          </a:xfrm>
          <a:prstGeom prst="rect">
            <a:avLst/>
          </a:prstGeom>
          <a:solidFill>
            <a:srgbClr val="2F85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39098" y="6381598"/>
            <a:ext cx="1524305" cy="1524305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43000" y="381305"/>
            <a:ext cx="1333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 / 20 — CHAPTER 16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685800"/>
            <a:ext cx="13335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開発スケジュール・優先順位</a:t>
            </a:r>
            <a:endParaRPr lang="en-US" sz="2700" dirty="0"/>
          </a:p>
        </p:txBody>
      </p:sp>
      <p:sp>
        <p:nvSpPr>
          <p:cNvPr id="19" name="Text 16"/>
          <p:cNvSpPr txBox="1"/>
          <p:nvPr/>
        </p:nvSpPr>
        <p:spPr>
          <a:xfrm>
            <a:off x="14097305" y="590702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MILESTONE 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4097305" y="809244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 6月 29日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4097305" y="1162202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登録フォーム稼働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6/29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の納期厳守のため、機能を </a:t>
            </a:r>
            <a:pPr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4フェーズ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に分割して段階リリースする。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2800807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3066898"/>
            <a:ext cx="1905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MVP-α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1333195" y="3696005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6/29 納期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3981298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8E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最優先・必達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15207" y="2800807"/>
          <a:ext cx="13335610" cy="1086307"/>
        </p:xfrm>
        <a:graphic>
          <a:graphicData uri="http://schemas.openxmlformats.org/drawingml/2006/table">
            <a:tbl>
              <a:tblPr/>
              <a:tblGrid>
                <a:gridCol w="4444898"/>
                <a:gridCol w="4444898"/>
                <a:gridCol w="4444898"/>
              </a:tblGrid>
              <a:tr h="543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① URL発行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トークン生成機能</a:t>
                      </a:r>
                      <a:endParaRPr lang="en-US" sz="1200" dirty="0"/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② 入力フォーム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GAS HTML Service</a:t>
                      </a:r>
                      <a:endParaRPr lang="en-US" sz="1200" dirty="0"/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③ DB自動登録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スプレッドシート連携</a:t>
                      </a:r>
                      <a:endParaRPr lang="en-US" sz="1200" dirty="0"/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④ 受付メール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協賛者・事務局両方</a:t>
                      </a:r>
                      <a:endParaRPr lang="en-US" sz="1200" dirty="0"/>
                    </a:p>
                  </a:txBody>
                  <a:tcPr marL="133502" marR="133502" marT="133502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⑤ 完了画面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受付番号・控え表示</a:t>
                      </a:r>
                      <a:endParaRPr lang="en-US" sz="1200" dirty="0"/>
                    </a:p>
                  </a:txBody>
                  <a:tcPr marL="133502" marR="133502" marT="133502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⑥ コースマスタ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初期構築</a:t>
                      </a:r>
                      <a:endParaRPr lang="en-US" sz="1200" dirty="0"/>
                    </a:p>
                  </a:txBody>
                  <a:tcPr marL="133502" marR="133502" marT="133502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1333195" y="4895698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333195" y="5162702"/>
            <a:ext cx="1905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MVP</a:t>
            </a:r>
            <a:endParaRPr lang="en-US" sz="2700" dirty="0"/>
          </a:p>
        </p:txBody>
      </p:sp>
      <p:sp>
        <p:nvSpPr>
          <p:cNvPr id="30" name="Text 26"/>
          <p:cNvSpPr txBox="1"/>
          <p:nvPr/>
        </p:nvSpPr>
        <p:spPr>
          <a:xfrm>
            <a:off x="1333195" y="5658307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花火大会本番まで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15207" y="4895698"/>
          <a:ext cx="13335610" cy="685800"/>
        </p:xfrm>
        <a:graphic>
          <a:graphicData uri="http://schemas.openxmlformats.org/drawingml/2006/table">
            <a:tbl>
              <a:tblPr/>
              <a:tblGrid>
                <a:gridCol w="4444898"/>
                <a:gridCol w="4444898"/>
                <a:gridCol w="4444898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⑦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請求書自動生成・送信</a:t>
                      </a:r>
                      <a:endParaRPr lang="en-US" sz="1200" dirty="0"/>
                    </a:p>
                  </a:txBody>
                  <a:tcPr marL="114300" marR="11430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⑧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入金ステータス管理＋期日アラート</a:t>
                      </a:r>
                      <a:endParaRPr lang="en-US" sz="1200" dirty="0"/>
                    </a:p>
                  </a:txBody>
                  <a:tcPr marL="114300" marR="11430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⑨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案内文自動生成・送信</a:t>
                      </a:r>
                      <a:endParaRPr lang="en-US" sz="1200" dirty="0"/>
                    </a:p>
                  </a:txBody>
                  <a:tcPr marL="114300" marR="114300" marT="57607" marB="57607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⑩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座席自動割当（隣接配置）</a:t>
                      </a:r>
                      <a:endParaRPr lang="en-US" sz="1200" dirty="0"/>
                    </a:p>
                  </a:txBody>
                  <a:tcPr marL="114300" marR="11430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⑪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協賛詳細モーダル画面</a:t>
                      </a:r>
                      <a:endParaRPr lang="en-US" sz="1200" dirty="0"/>
                    </a:p>
                  </a:txBody>
                  <a:tcPr marL="114300" marR="11430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6CB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⑫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お礼状自動生成・送信</a:t>
                      </a:r>
                      <a:endParaRPr lang="en-US" sz="1200" dirty="0"/>
                    </a:p>
                  </a:txBody>
                  <a:tcPr marL="114300" marR="11430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1333195" y="6590995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333195" y="6810451"/>
            <a:ext cx="1143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安定化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2857500" y="6590995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⑬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プロジェクト複製機能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2857500" y="6838798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⑭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集計レポート・座席使用状況可視化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2857500" y="7086600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⑮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一括送信機能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2857500" y="7334402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⑯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操作ログ・週次バックアップ自動化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9430207" y="6590995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PHASE 4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9430207" y="6810451"/>
            <a:ext cx="1143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拡張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10953598" y="6590995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⑰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入金消込半自動化（銀行明細CSV）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10953598" y="6838798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⑱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督促メール自動化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0953598" y="7086600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⑲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Looker Studioダッシュボード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0953598" y="7334402"/>
            <a:ext cx="6001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⑳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協賛者ポータル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524305" y="8429854"/>
            <a:ext cx="1524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CRITICAL PATH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524305" y="8695944"/>
            <a:ext cx="15240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既存帳票テンプレート（Word）の </a:t>
            </a:r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早期提供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と、Workspaceエディションの </a:t>
            </a:r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最終決定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が Phase 1 着手の前提条件。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00" cy="1333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24051"/>
            <a:ext cx="1828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67305"/>
            <a:ext cx="3810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667305"/>
            <a:ext cx="38405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0" y="2667305"/>
            <a:ext cx="3810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0" y="2667305"/>
            <a:ext cx="38405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667305"/>
            <a:ext cx="3810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667305"/>
            <a:ext cx="38405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44500" y="2667305"/>
            <a:ext cx="4000500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44500" y="2667305"/>
            <a:ext cx="38405" cy="1904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762195"/>
            <a:ext cx="3810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762195"/>
            <a:ext cx="38405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3500" y="4762195"/>
            <a:ext cx="3810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3500" y="4762195"/>
            <a:ext cx="38405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4762195"/>
            <a:ext cx="3810305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4762195"/>
            <a:ext cx="38405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144500" y="4762195"/>
            <a:ext cx="4000500" cy="1904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144500" y="4762195"/>
            <a:ext cx="38405" cy="1904695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6858000"/>
            <a:ext cx="5333695" cy="1904695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67805" y="6858000"/>
            <a:ext cx="5333695" cy="1904695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91695" y="6858000"/>
            <a:ext cx="4953305" cy="1904695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0" descr="gen-dedup-1bbd8f0290d6a3aafacde42c69e36b1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857707"/>
            <a:ext cx="571500" cy="3840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43000" y="381305"/>
            <a:ext cx="160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19 / 20 — CHAPTER 17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685800"/>
            <a:ext cx="1600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今後の拡張案 — 追加自動化アイデア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1809598"/>
            <a:ext cx="1600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本要件の範囲外だが、次フェーズ以降に検討すべき </a:t>
            </a:r>
            <a:pPr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11個のアイデア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。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333195" y="2857500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E-1 / 督促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333195" y="307695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督促メール自動送信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33195" y="340065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入金期日（申込日+14日）超過で自動リマインド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5333695" y="2857500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E-2 / 入金消込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333695" y="307695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入金消込半自動化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333695" y="340065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銀行明細CSVから金額・振込名義で自動マッチング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9334195" y="2857500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E-3 / ポータル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9334195" y="307695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協賛者ポータル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34195" y="340065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受付番号でステータス・領収書PDFを自照会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3334695" y="2857500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E-4 / 領収書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3334695" y="3076956"/>
            <a:ext cx="3620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電子領収書発行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3334695" y="3400654"/>
            <a:ext cx="3620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入金確認後に領収書PDFを自動送付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4953305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E-5 / カレンダー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517184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Googleカレンダー連携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333195" y="549554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申込締切・入金期日・開催日を自動登録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5333695" y="4953305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E-6 / QR受付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333695" y="517184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QRコード付き案内状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5333695" y="549554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当日受付・座席案内をQRで効率化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9334195" y="4953305"/>
            <a:ext cx="3429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E-7 / DB横断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9334195" y="5171846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協賛者DB横断管理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334195" y="549554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過去年度の協賛履歴を蓄積し、翌年アプローチに活用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13334695" y="4953305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B6C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E-8 / 通知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3334695" y="5171846"/>
            <a:ext cx="3620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Slack / LINE WORKS 通知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3334695" y="5495544"/>
            <a:ext cx="3620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新規協賛時に役員チャットへ即時通知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1333195" y="7048195"/>
            <a:ext cx="495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E-9 / 可視化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1333195" y="7267651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Looker Studio ダッシュボード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1333195" y="7619695"/>
            <a:ext cx="4953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スプレッドシートを接続し、件数・金額・進捗のリアルタイム集計を可視化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6858000" y="7048195"/>
            <a:ext cx="495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E-10 / AI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0" y="7267651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Gemini APIで個別お礼文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6858000" y="7619695"/>
            <a:ext cx="4953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協賛者別にパーソナライズされたお礼文面を自動生成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12382805" y="7048195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E-11 / 御芳名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12382805" y="7267651"/>
            <a:ext cx="4572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御芳名一覧自動生成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12382805" y="7619695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プログラム冊子用の御芳名リストをワンクリック出力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1143000" y="9715500"/>
            <a:ext cx="1600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 協賛管理システム 要件定義書 v2.0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29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953305" cy="10287000"/>
          </a:xfrm>
          <a:prstGeom prst="rect">
            <a:avLst/>
          </a:prstGeom>
          <a:solidFill>
            <a:srgbClr val="0A1D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2190902"/>
            <a:ext cx="11811305" cy="3619195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6476695"/>
            <a:ext cx="11811305" cy="2952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e9c1d2ce095ae1e0d3fb9dc631114cde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857707" y="53336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7707" y="5905195"/>
            <a:ext cx="3619195" cy="3143707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7707" y="1333195"/>
            <a:ext cx="3620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SUMMARY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1876349"/>
            <a:ext cx="36201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まとめ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2775204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本要件定義書 v2.0 は、Phase 1 着手に向けた最終確定版です。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47902" y="6133795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NEXT ACTIONS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6429146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次のステップ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6916522"/>
            <a:ext cx="32388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 残ヒアリング項目の確定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 既存帳票テンプレ提供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 Workspaceエディション決定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294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 Phase 1 基本設計開始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1333195"/>
            <a:ext cx="1181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 / 20 — FINAL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1619402"/>
            <a:ext cx="11811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エグゼクティブサマリ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096305" y="2476195"/>
            <a:ext cx="11049610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川口YEG協賛管理システム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は、Google Apps Script + Google Workspace を基盤に、事務局が個別URLを発行 → 協賛者がフォーム入力 → スプレッドシート自動登録 → 請求書／案内文／お礼状をメールPDF送付 → 入金確認 → 座席自動割当（コース別卓数・隣接配置必須）までを一気通貫で自動化するシステムです。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協賛コースは </a:t>
            </a:r>
            <a:pPr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S（200万）/ A（100万）/ B（50万）/ C（30万）/ D（20万）/ E（10万）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の6種で、1卓4名・A=5卓〜E=1卓・S=特別席。請求書発行元は </a:t>
            </a:r>
            <a:pPr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川口商工会議所（インボイス番号なし）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、入金期日は申込日から2週間、入金確認は商工会議所担当者の通帳目視で実施。お礼状はメールPDFへ完全移行、印影は画像差込、PDFパスワード不要。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2026年6月29日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までに「協賛者向け登録フォーム」を稼働させる必要があるため、Phase 1ではフォーム＋自動登録＋受付メールにスコープを絞り、Phase 2以降で帳票送付・座席割当・お礼状送信を順次拡張する計画です。 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6096305"/>
            <a:ext cx="1181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C9A9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残ヒアリング項目（次回確認事項）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305" y="6667805"/>
          <a:ext cx="11049610" cy="2809951"/>
        </p:xfrm>
        <a:graphic>
          <a:graphicData uri="http://schemas.openxmlformats.org/drawingml/2006/table">
            <a:tbl>
              <a:tblPr/>
              <a:tblGrid>
                <a:gridCol w="571500"/>
                <a:gridCol w="2190902"/>
                <a:gridCol w="8287207"/>
              </a:tblGrid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Q-1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S協賛の特別席仕様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卓数・場所・他コースとのエリア分離有無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Q-2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協賛申込締切日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「後ほど指定」とのことなので確定次第共有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Q-3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座席割当順序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入金確定順 / 協賛ランク順 / 申込順 のいずれを優先するか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Q-4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送信元メールアドレス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商工会議所代表アドレス／個別職員アドレスのいずれか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Q-5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URL発行単位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1協賛者1URLか、1法人複数案件で複数URLか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Q-6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同一性チェック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同一会社が複数コース申込する場合の扱い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Q-7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Workspaceエディション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無償／Businessどちらで進めるかの最終決定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2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Q-8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944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テンプレ提供時期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既存フォーマットの提供スケジュール（6/29に間に合うか）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57607" marR="576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715000" y="9620402"/>
            <a:ext cx="1181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25" kern="0" dirty="0">
                <a:solidFill>
                  <a:srgbClr val="9CA3A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— END OF DOCUMENT 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2026-06-08T05:35:52Z</dcterms:created>
  <dcterms:modified xsi:type="dcterms:W3CDTF">2026-06-08T05:35:52Z</dcterms:modified>
</cp:coreProperties>
</file>