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2E6DA4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206240"/>
            <a:ext cx="1371600" cy="1371600"/>
          </a:xfrm>
          <a:prstGeom prst="ellipse">
            <a:avLst/>
          </a:prstGeom>
          <a:solidFill>
            <a:srgbClr val="2E6DA4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テスト仕様書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— 川口花火大会 協賛管理システム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B4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発行日：2026年06月18日　バージョン：1.0　全テストケース：43件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584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99A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各スライドに証跡スクリーンショットを貼り付けてください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テスト項目一覧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1993392" cy="38404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0241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T-01〜07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43560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01368" y="2313432"/>
            <a:ext cx="420624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0" name="Text 8"/>
          <p:cNvSpPr/>
          <p:nvPr/>
        </p:nvSpPr>
        <p:spPr>
          <a:xfrm>
            <a:off x="1801368" y="231343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1993392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10241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T-08〜12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143560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申込みデータ登録・受付番号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50208" y="2313432"/>
            <a:ext cx="420624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3950208" y="231343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960120"/>
            <a:ext cx="1993392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690872" y="10241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T-13〜18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90872" y="143560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99048" y="2313432"/>
            <a:ext cx="420624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48" y="231343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96012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2E6DA4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960120"/>
            <a:ext cx="1993392" cy="384048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25" name="Text 23"/>
          <p:cNvSpPr/>
          <p:nvPr/>
        </p:nvSpPr>
        <p:spPr>
          <a:xfrm>
            <a:off x="6839712" y="102412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T-19〜23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39712" y="143560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受付完了チェック（S・A区分）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247888" y="2313432"/>
            <a:ext cx="420624" cy="347472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8" name="Text 26"/>
          <p:cNvSpPr/>
          <p:nvPr/>
        </p:nvSpPr>
        <p:spPr>
          <a:xfrm>
            <a:off x="8247888" y="231343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7180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2971800"/>
            <a:ext cx="1993392" cy="38404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T-24〜28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" y="344728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入金確認・お礼状送信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801368" y="4325112"/>
            <a:ext cx="420624" cy="34747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4" name="Text 32"/>
          <p:cNvSpPr/>
          <p:nvPr/>
        </p:nvSpPr>
        <p:spPr>
          <a:xfrm>
            <a:off x="1801368" y="43251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68880" y="297180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E67E22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68880" y="2971800"/>
            <a:ext cx="1993392" cy="38404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2542032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T-29〜33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42032" y="344728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950208" y="4325112"/>
            <a:ext cx="420624" cy="34747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40" name="Text 38"/>
          <p:cNvSpPr/>
          <p:nvPr/>
        </p:nvSpPr>
        <p:spPr>
          <a:xfrm>
            <a:off x="3950208" y="43251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297180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6C3483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17720" y="2971800"/>
            <a:ext cx="1993392" cy="384048"/>
          </a:xfrm>
          <a:prstGeom prst="rect">
            <a:avLst/>
          </a:prstGeom>
          <a:solidFill>
            <a:srgbClr val="6C3483"/>
          </a:solidFill>
          <a:ln/>
        </p:spPr>
      </p:sp>
      <p:sp>
        <p:nvSpPr>
          <p:cNvPr id="43" name="Text 41"/>
          <p:cNvSpPr/>
          <p:nvPr/>
        </p:nvSpPr>
        <p:spPr>
          <a:xfrm>
            <a:off x="4690872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T-34〜38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690872" y="344728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Infoシート設定反映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099048" y="4325112"/>
            <a:ext cx="420624" cy="347472"/>
          </a:xfrm>
          <a:prstGeom prst="ellipse">
            <a:avLst/>
          </a:prstGeom>
          <a:solidFill>
            <a:srgbClr val="6C3483"/>
          </a:solidFill>
          <a:ln/>
        </p:spPr>
      </p:sp>
      <p:sp>
        <p:nvSpPr>
          <p:cNvPr id="46" name="Text 44"/>
          <p:cNvSpPr/>
          <p:nvPr/>
        </p:nvSpPr>
        <p:spPr>
          <a:xfrm>
            <a:off x="6099048" y="43251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5件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66560" y="2971800"/>
            <a:ext cx="1993392" cy="1828800"/>
          </a:xfrm>
          <a:prstGeom prst="rect">
            <a:avLst/>
          </a:prstGeom>
          <a:solidFill>
            <a:srgbClr val="F0F5FB"/>
          </a:solidFill>
          <a:ln w="25400">
            <a:solidFill>
              <a:srgbClr val="117A65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66560" y="2971800"/>
            <a:ext cx="1993392" cy="384048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49" name="Text 47"/>
          <p:cNvSpPr/>
          <p:nvPr/>
        </p:nvSpPr>
        <p:spPr>
          <a:xfrm>
            <a:off x="6839712" y="3035808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T-39〜43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39712" y="3447288"/>
            <a:ext cx="1847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onEditトリガー安全確認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47888" y="4325112"/>
            <a:ext cx="420624" cy="347472"/>
          </a:xfrm>
          <a:prstGeom prst="ellipse">
            <a:avLst/>
          </a:prstGeom>
          <a:solidFill>
            <a:srgbClr val="117A65"/>
          </a:solidFill>
          <a:ln/>
        </p:spPr>
      </p:sp>
      <p:sp>
        <p:nvSpPr>
          <p:cNvPr id="52" name="Text 50"/>
          <p:cNvSpPr/>
          <p:nvPr/>
        </p:nvSpPr>
        <p:spPr>
          <a:xfrm>
            <a:off x="8247888" y="4325112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5件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T-01〜07  フォーム表示・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入力バリデーション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Webフォームの表示条件と入力値の検証テスト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フォーム正常表示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デプロイURLにブラウザでアクセスする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ページが読み込まれることを確認する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協賛申込みフォームが表示される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イベント名・区分・価格が正しく表示される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INFO未設定時のエラー表示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InfoシートにEVENT_NAMEのキー行が存在し、B列（値）が空になっている状態にしておく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InfoシートのEVENT_NAME行のB列（値）を空欄にする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フォームURLにブラウザでアクセスする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エラー画面が表示される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「設定が完了していないため、フォームを表示できません」のメッセージが表示される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申込みフォームは表示されない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申込み期間外区分の非表示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KUBUN_SA_ENDを過去日付に設定しておく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KUBUN_SA_ENDを過去日付に設定する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フォームにアクセスしてS・A区分の表示を確認する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S・A区分が表示されない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B〜E区分のみ表示される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背景画像表示確認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BG_IMAGE_IDに有効なDriveファイルIDを設定しておく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BG_IMAGE_IDに有効なDriveファイルIDを設定する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フォームにアクセスして背景を確認する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フォームの背景に指定した画像が表示される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フリガナ全角カタカナバリデーション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会社名フリガナ欄にひらがな「かわぐち」を入力する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「確認」ボタンを押す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バリデーションエラーが表示される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「全角カタカナで入力してください」等のメッセージが出る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郵便番号桁数チェック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郵便番号欄に6桁「123456」を入力する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「確認」ボタンを押す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バリデーションエラーが表示される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7桁の数字を要求するメッセージが出る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利用規約スクロール制御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フォーム表示・入力バリデーション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利用規約エリアをスクロールせずにチェックボックスをクリックする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利用規約をスクロールしてからチェックボックスをクリックする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スクロール前：チェックボックスが無効（クリックできない）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スクロール後：チェックボックスが有効になりチェックできる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T-08〜12  申込みデータ登録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スプレッドシートへのデータ保存と受付番号生成のテスト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正常申込み登録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申込みデータ登録・受付番号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全必須項目を正しく入力してフォームを送信する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「協賛申込み一覧」シートを確認する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送信したデータが最終行に追記される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受付日時・区分・連絡先情報がすべて正しく登録される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受付番号形式確認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申込みデータ登録・受付番号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フォームを正常送信する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「協賛申込み一覧」シートのA列を確認する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フォーム完了画面の受付番号を確認する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受付番号が「KWGC＋17桁数字」の形式になっている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フォーム完了画面にも同じ番号が表示される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郵便番号先頭ゼロ保持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申込みデータ登録・受付番号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郵便番号「0123456」を入力してフォームを送信する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スプレッドシートI列の値を確認する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「0123456」として保存される（先頭ゼロが消えない）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セルの書式設定が文字列になっているか合わせて確認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手作業シートXLOOKUP自動入力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申込みデータ登録・受付番号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フォーム送信後、手作業シートA列に受付番号を入力する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B〜H列のデータを確認する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B〜H列に会社名・住所等がXLOOKUPで自動入力される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数式エラーは発生しない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同時送信（ロック確認）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申込みデータ登録・受付番号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2つのブラウザタブで同時にフォームを送信する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スプレッドシートの行を確認する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両方の申込みが重複なく別行に登録される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データが上書きされたり欠損したりしない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T-13〜18  メール自動送信テスト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B〜E区分の申込み直後メール送信と請求書PDFのテスト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 申込み確認メール自動送信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B区分でフォームを正常送信する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申込者メールアドレスの受信ボックスを確認する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申込み直後にメールが届く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件名に「受付確認」または「請求書」が含まれる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請求書PDF添付確認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T-13のメールを開く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添付ファイルを確認してPDFを開く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PDFが添付されている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会社名・区分・金額・インボイス番号・振込先が含まれる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CC送信確認（事務局メール）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T-13のメール送信後、事務局メール（OFFICE_EMAIL）を確認する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OFFICE_EMAILにCCでメールが届いている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内容は申込者メールと同じ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 申込み直後メール不送信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S区分でフォームを正常送信する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申込者メールアドレスを確認する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フォーム送信直後にメールが届かない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（S・A区分は手動送信のため）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PDF記載内容全項目確認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B区分で申込みを送信してPDFを取得する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PDF内の各項目を1つずつ確認する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会社名・担当者名が正しい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協賛区分と金額（税抜・税込）が正しい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消費税10%計算が正しい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インボイス登録番号（T+13桁）が表示されている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⑤ 振込先銀行情報が正しい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⑥ 入金期限が正しい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不正メールアドレスのバリデーション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メール自動送信（B〜E区分）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メールアドレス欄に「test@」（不完全）を入力する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送信ボタンを押す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フォームのバリデーションエラーが表示される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サーバーへの送信は行われない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T-19〜23  受付完了チェックテスト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S・A区分のI列チェックボックスとダイアログ動作のテスト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T-19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I列チェックON時ダイアログ表示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受付完了チェック（S・A区分）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手作業シートでS区分の行のI列チェックボックスをONにする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確認ダイアログが表示される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ダイアログに会社名・区分・金額が正しく表示されている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送信確認後メール送信・J列記録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受付完了チェック（S・A区分）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T-19のダイアログで「送信する」をクリックする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申込者メールを確認する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手作業シートのJ列を確認する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申込者に請求書PDF添付メールが届く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J列（請求書送信日時）に現在日時が自動記録される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キャンセル時I列リセット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受付完了チェック（S・A区分）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I列をONにしてダイアログを表示する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「キャンセル」をクリックする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I列の状態を確認する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I列のチェックがFALSEに戻っている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メールは送信されていない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二重送信防止（送信済み警告）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受付完了チェック（S・A区分）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J列に日時が入力済みの行のI列を再度ONにする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「送信済み」の警告アラートが表示される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ダイアログは表示されず、二重送信されない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I列OFF時J・K・L列クリア確認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受付完了チェック（S・A区分）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J・K・L列にデータがある行のI列をOFFにする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「J列以降をクリアしますか？」の確認が表示される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OKを選択するとJ・K・L列がクリアされる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T-24〜28  入金確認・お礼状送信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K列チェックボックスとお礼状PDF送信のテスト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J列空のままK列チェック時エラー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入金確認・お礼状送信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J列（請求書送信日時）が空の行のK列をONにする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「請求書を先に送信してください」等の警告アラートが表示される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K列のチェックがFALSEにリセットされる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入金完了ダイアログ表示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入金確認・お礼状送信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J列に日時がある行のK列チェックボックスをONにする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お礼状送信確認ダイアログが表示される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会社名・区分が正しく表示されている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お礼状メール送信・L列記録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入金確認・お礼状送信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T-25のダイアログで「送信する」をクリックする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申込者メールを確認する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手作業シートのL列を確認する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お礼状PDF添付メールが届く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L列（お礼状送信日時）に現在日時が自動記録される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お礼状PDF内容確認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入金確認・お礼状送信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T-26で受信したお礼状PDFを開く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各項目を確認する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会社名・代表者名・区分・イベント名が正しい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主催団体名・代表者名・日付が正しい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組織印影が表示されている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5C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K列OFF時L列クリア確認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入金確認・お礼状送信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L列にデータがある行のK列をOFFにする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「L列をクリアしますか？」の確認が表示される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OKを選択するとL列がクリアされる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T-29〜33  メールクォータ管理テスト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Gmail送信上限の監視・通知・停止機能のテスト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T-29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通常クォータ時の正常動作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MIN_MAIL_QUOTAを5に設定し、残クォータが十分ある状態にしておく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フォームURLにブラウザでアクセスする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フォームが表示されることを確認する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フォームが正常に表示される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クォータ警告は表示されない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低クォータ時の警告メール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MIN_MAIL_QUOTAを実際の残クォータより大きく設定する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MIN_MAIL_QUOTAを残クォータより大きな値に設定する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フォームを送信する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OFFICE_EMAILを確認する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OFFICE_EMAILに「クォータ残量警告」メールが届く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フォームの受付は継続される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クォータ0時フォーム停止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getRemainingDailyQuotaが0を返す状態を用意する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クォータが0の状態でフォームURLにアクセスする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フォームに「本日の受付を停止しました」等のメッセージが表示される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申込みボタンが非活性または画面が出ない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MIN_MAIL_QUOTA変更反映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InfoシートのMIN_MAIL_QUOTAを10に変更する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「設定を同期」を実行する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残クォータが10以下の状態で動作確認する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新しい閾値（10）が反映される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残クォータが10以下になると警告メールが送信される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C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クォータ翌日リセット確認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メールクォータ管理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前日クォータを消費した後、翌日にフォームにアクセスする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フォームが正常に表示される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Gmailクォータが自動でリセットされている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T-34〜38  Infoシート設定反映テスト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設定値の変更がフォーム・PDF・メールに正しく反映されるか確認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A1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価格変更のフォーム・PDF反映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Infoシート設定反映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InfoシートのPRICE_Bを変更して「設定を同期」を実行する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フォームにアクセスしてB区分の価格を確認する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フォームを送信して請求書PDFの金額を確認する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フォーム上の表示価格が変更後の値になっている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請求書PDFの金額も変更後の値になっている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A1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銀行情報変更のPDF反映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Infoシート設定反映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BANK_NAMEを変更して「設定を同期」を実行する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フォームを送信して請求書PDFを確認する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請求書PDFの振込先に変更後の銀行情報が表示される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A1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イベント名変更のフォーム反映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Infoシート設定反映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EVENT_NAMEを変更して「設定を同期」を実行する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フォームにアクセスしてタイトルを確認する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フォームのページタイトルとヘッダーに変更後のイベント名が表示される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A1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インボイス番号のPDF反映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Infoシート設定反映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INVOICE_REG_NOに「T1234567890123」を設定する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フォームを送信して請求書PDFを確認する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請求書PDFにインボイス登録番号「T1234567890123」が表示される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3A1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申込み期間設定の反映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Infoシート設定反映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KUBUN_SA_STARTを明日の日付に設定する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今日フォームにアクセスしてS区分の表示を確認する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S・A区分が表示されない（申込み期間外のため）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B〜E区分のみ表示される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T-39〜43  onEditトリガー安全確認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誤操作防止・異常系の動作確認テスト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T-39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手作業以外シート編集時ダイアログ不表示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onEditトリガー安全確認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「協賛申込み一覧」シートのセルを編集する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ダイアログが表示されないことを確認する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ダイアログが表示されない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スクリプトが静かにreturnする（エラーなし）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T-40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存在しない受付番号入力時の動作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onEditトリガー安全確認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手作業シートのA列に存在しない受付番号を入力する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B〜H列の値を確認する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B〜H列に「#N/A」エラーが表示される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クラッシュや予期しないエラーは発生しない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T-41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I列ON→キャンセル後の状態確認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onEditトリガー安全確認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CE4E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I列をONにしてダイアログを表示する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「キャンセル」をクリックする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I列とJ列の状態を確認する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I列がFALSE（未チェック）に戻っている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J列は変化していない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T-42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トリガー未登録時の動作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onEditトリガー安全確認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DE9D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Apps ScriptのトリガーからonEditInstallableを削除しておく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I列チェックボックスをONにする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ダイアログが表示されない（シンプルトリガーは権限外）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ProjectInitializeの再実行でトリガーが再登録される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17A6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109728"/>
            <a:ext cx="960120" cy="566928"/>
          </a:xfrm>
          <a:prstGeom prst="roundRect">
            <a:avLst>
              <a:gd name="adj" fmla="val 967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972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T-43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914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複数行連続チェック時の安定性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8600" y="914400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" y="932688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テスト区分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188720"/>
            <a:ext cx="4023360" cy="347472"/>
          </a:xfrm>
          <a:prstGeom prst="rect">
            <a:avLst/>
          </a:prstGeom>
          <a:solidFill>
            <a:srgbClr val="DCE9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252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onEditトリガー安全確認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1536192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" y="1554480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1810512"/>
            <a:ext cx="4023360" cy="34747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847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157984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301752" y="2176272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前提条件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432304"/>
            <a:ext cx="4023360" cy="438912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68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特になし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7121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" y="288950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操作手順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145536"/>
            <a:ext cx="4023360" cy="1051560"/>
          </a:xfrm>
          <a:prstGeom prst="rect">
            <a:avLst/>
          </a:prstGeom>
          <a:solidFill>
            <a:srgbClr val="FEF9E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82112"/>
            <a:ext cx="3840480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手作業シートで複数行のI列を素早く連続してONにする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各行のダイアログと送信状況を確認する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4197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01752" y="4215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期待結果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471416"/>
            <a:ext cx="4023360" cy="822960"/>
          </a:xfrm>
          <a:prstGeom prst="rect">
            <a:avLst/>
          </a:prstGeom>
          <a:solidFill>
            <a:srgbClr val="D5F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50799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各行ごとにダイアログが表示・処理される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処理が競合してクラッシュしない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5340096"/>
            <a:ext cx="4023360" cy="2743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" y="5358384"/>
            <a:ext cx="3877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判定結果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5614416"/>
            <a:ext cx="4023360" cy="42062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63270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OK　　□ NG　　□ 未実施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434840" y="914400"/>
            <a:ext cx="448056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93268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証跡スクリーンショット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1207008"/>
            <a:ext cx="4480560" cy="3063240"/>
          </a:xfrm>
          <a:prstGeom prst="rect">
            <a:avLst/>
          </a:prstGeom>
          <a:solidFill>
            <a:srgbClr val="F8FAFC"/>
          </a:solidFill>
          <a:ln w="12700">
            <a:solidFill>
              <a:srgbClr val="AAAAAA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172200" y="2011680"/>
            <a:ext cx="1005840" cy="1005840"/>
          </a:xfrm>
          <a:prstGeom prst="ellipse">
            <a:avLst/>
          </a:prstGeom>
          <a:solidFill>
            <a:srgbClr val="ECF0F1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5740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🖼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4617720" y="3108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ここにスクリーンショットを貼り付けてください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315968"/>
            <a:ext cx="4480560" cy="25603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334256"/>
            <a:ext cx="4297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備考・メモ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4480560" cy="42976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4590288"/>
            <a:ext cx="429768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10912"/>
            <a:ext cx="868680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WebHanabi テスト仕様書　|　実施者：_______________　　実施日：_______________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4572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2296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テスト結果サマリー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72768" cy="13716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6926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テスト総件数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039112" y="914400"/>
            <a:ext cx="1572768" cy="137160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84832" y="96926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合格（OK）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84832" y="1353312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___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3758184" y="914400"/>
            <a:ext cx="1572768" cy="137160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03904" y="96926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不合格（NG）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03904" y="1353312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___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5477256" y="914400"/>
            <a:ext cx="1572768" cy="1371600"/>
          </a:xfrm>
          <a:prstGeom prst="rect">
            <a:avLst/>
          </a:prstGeom>
          <a:solidFill>
            <a:srgbClr val="7F8C8D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22976" y="96926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未実施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22976" y="1353312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7196328" y="914400"/>
            <a:ext cx="1572768" cy="1371600"/>
          </a:xfrm>
          <a:prstGeom prst="rect">
            <a:avLst/>
          </a:prstGeom>
          <a:solidFill>
            <a:srgbClr val="2E6DA4"/>
          </a:solidFill>
          <a:ln/>
          <a:effectLst>
            <a:outerShdw sx="100000" sy="100000" kx="0" ky="0" algn="bl" rotWithShape="0" blurRad="635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969264"/>
            <a:ext cx="1481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42048" y="1353312"/>
            <a:ext cx="14813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20040" y="24505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テスト実施情報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788920"/>
            <a:ext cx="13716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7889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実施者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691640" y="2788920"/>
            <a:ext cx="265176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28620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46120"/>
            <a:ext cx="13716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2461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246120"/>
            <a:ext cx="265176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83080" y="33192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_______________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703320"/>
            <a:ext cx="13716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7033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レビュー者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91640" y="3703320"/>
            <a:ext cx="265176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3776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___________________________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160520"/>
            <a:ext cx="1371600" cy="38404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16052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691640" y="4160520"/>
            <a:ext cx="2651760" cy="384048"/>
          </a:xfrm>
          <a:prstGeom prst="rect">
            <a:avLst/>
          </a:prstGeom>
          <a:solidFill>
            <a:srgbClr val="F0F5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83080" y="4233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_______________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09160" y="24505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テストグループ別集計</a:t>
            </a:r>
            <a:endParaRPr lang="en-US" sz="12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788920"/>
          <a:ext cx="41148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828800"/>
                <a:gridCol w="502920"/>
                <a:gridCol w="384048"/>
                <a:gridCol w="3931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グループ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テスト内容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総数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OK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NG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T-01〜07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フォーム表示・入力バリデーション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T-08〜12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申込みデータ登録・受付番号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T-13〜18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メール自動送信（B〜E区分）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T-19〜23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受付完了チェック（S・A区分）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T-24〜28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入金確認・お礼状送信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T-29〜33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メールクォータ管理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T-34〜38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Infoシート設定反映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T-39〜43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onEditトリガー安全確認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2222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___</a:t>
                      </a:r>
                      <a:endParaRPr lang="en-US" sz="9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2026-06-20T00:59:00Z</dcterms:created>
  <dcterms:modified xsi:type="dcterms:W3CDTF">2026-06-20T00:59:00Z</dcterms:modified>
</cp:coreProperties>
</file>