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822960"/>
            <a:ext cx="607060" cy="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43029" y="868680"/>
            <a:ext cx="525729" cy="30353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902149"/>
            <a:ext cx="303530" cy="525729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914400"/>
            <a:ext cx="0" cy="60706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902149"/>
            <a:ext cx="-303530" cy="525729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84651" y="868680"/>
            <a:ext cx="-525729" cy="30353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822960"/>
            <a:ext cx="-607060" cy="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84651" y="777240"/>
            <a:ext cx="-525729" cy="-30353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743771"/>
            <a:ext cx="-303530" cy="-525729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731520"/>
            <a:ext cx="0" cy="-60706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743771"/>
            <a:ext cx="303530" cy="-525729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43029" y="777240"/>
            <a:ext cx="525729" cy="-303530"/>
          </a:xfrm>
          <a:prstGeom prst="line">
            <a:avLst/>
          </a:prstGeom>
          <a:noFill/>
          <a:ln w="12700">
            <a:solidFill>
              <a:srgbClr val="2E6DA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480560"/>
            <a:ext cx="391160" cy="0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44818" y="4545218"/>
            <a:ext cx="276592" cy="276592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4572000"/>
            <a:ext cx="0" cy="391160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5502" y="4545218"/>
            <a:ext cx="-276592" cy="276592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4480560"/>
            <a:ext cx="-391160" cy="0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5502" y="4415902"/>
            <a:ext cx="-276592" cy="-276592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4389120"/>
            <a:ext cx="0" cy="-391160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44818" y="4415902"/>
            <a:ext cx="276592" cy="-276592"/>
          </a:xfrm>
          <a:prstGeom prst="line">
            <a:avLst/>
          </a:prstGeom>
          <a:noFill/>
          <a:ln w="12700">
            <a:solidFill>
              <a:srgbClr val="1A6E40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4114800"/>
            <a:ext cx="492760" cy="0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3577" y="4168547"/>
            <a:ext cx="398651" cy="289637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57857" y="4201765"/>
            <a:ext cx="152271" cy="468643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1343" y="4201765"/>
            <a:ext cx="-152271" cy="468643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5623" y="4168547"/>
            <a:ext cx="-398651" cy="289637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4114800"/>
            <a:ext cx="-492760" cy="0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5623" y="4061053"/>
            <a:ext cx="-398651" cy="-289637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01343" y="4027835"/>
            <a:ext cx="-152271" cy="-468643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57857" y="4027835"/>
            <a:ext cx="152271" cy="-468643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3577" y="4061053"/>
            <a:ext cx="398651" cy="-289637"/>
          </a:xfrm>
          <a:prstGeom prst="line">
            <a:avLst/>
          </a:prstGeom>
          <a:noFill/>
          <a:ln w="12700">
            <a:solidFill>
              <a:srgbClr val="E67E22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9144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 作 マ ニ ュ ア ル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— 川口花火大会 協賛管理システム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2E6D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2026年06月18日発行　　　対象：申込者・事務局担当者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申込みから感謝状まで — ワンストップ協賛管理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本書の対象読者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65836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16128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申込者（一般）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80136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協賛申込みフォームを使って申込む方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404872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04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368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フォームにアクセスして情報を入力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3182112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1455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確認画面で内容を確認して送信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959352"/>
            <a:ext cx="274320" cy="27432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受付番号と確認メールを受け取る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743200" cy="38404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51560"/>
            <a:ext cx="2743200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116128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事務局担当者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9272" y="180136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申込み受付・請求・入金確認を行う方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240487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2404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2368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手作業シートで受付番号を管理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18211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03320" y="31455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チェックボックスで請求書を送信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95935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03320" y="3922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入金確認後にお礼状を送信する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1051560"/>
            <a:ext cx="2743200" cy="384048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051560"/>
            <a:ext cx="2743200" cy="6583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1161288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システム管理者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45352" y="180136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システムの設定・初期化を行う方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2404872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04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29400" y="23682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Infoシートに設定値を入力する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3182112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9400" y="31455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 Initializeを実行する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3959352"/>
            <a:ext cx="274320" cy="2743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959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29400" y="39227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Webアプリとしてデプロイする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　次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09728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66928" cy="10972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78408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初期セットアップ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管理者向け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160520" cy="10972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78992"/>
            <a:ext cx="566928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78992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13248" y="12618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申込みフォームの使い方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13248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申込者向け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40864"/>
            <a:ext cx="4160520" cy="109728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40864"/>
            <a:ext cx="566928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340864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78408" y="25237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申込みデータの管理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8408" y="29992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事務局向け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40864"/>
            <a:ext cx="4160520" cy="1097280"/>
          </a:xfrm>
          <a:prstGeom prst="rect">
            <a:avLst/>
          </a:prstGeom>
          <a:solidFill>
            <a:srgbClr val="FCE4E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40864"/>
            <a:ext cx="56692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40864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13248" y="25237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請求書メールの送信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13248" y="29992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事務局向け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602736"/>
            <a:ext cx="4160520" cy="10972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02736"/>
            <a:ext cx="566928" cy="1097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02736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78408" y="378561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入金確認とお礼状送信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8408" y="42611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事務局向け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02736"/>
            <a:ext cx="4160520" cy="1097280"/>
          </a:xfrm>
          <a:prstGeom prst="rect">
            <a:avLst/>
          </a:prstGeom>
          <a:solidFill>
            <a:srgbClr val="FEF9E7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02736"/>
            <a:ext cx="566928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602736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413248" y="378561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メールクォータ管理・FAQ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13248" y="42611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管理者・全員向け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 初期セットアップ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管理者向け — システムの初回設定手順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初期セットアップの流れ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72184"/>
            <a:ext cx="402336" cy="402336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19659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設定値を入力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72768" y="2103120"/>
            <a:ext cx="128382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7858" y="20116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09928" y="14173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472184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64792" y="19659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メニューから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 Initialize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08376" y="2103120"/>
            <a:ext cx="128382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3466" y="20116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45536" y="14173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84448" y="1472184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3584448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19659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フォルダ・シート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43984" y="2103120"/>
            <a:ext cx="128382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9074" y="20116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81144" y="14173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0056" y="1472184"/>
            <a:ext cx="402336" cy="402336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0056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36008" y="19659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トリガー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自動登録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79592" y="2103120"/>
            <a:ext cx="128382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4682" y="20116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16752" y="14173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FCE4E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1472184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71616" y="19659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Webアプリ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としてデプロイ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2103120"/>
            <a:ext cx="128382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0290" y="20116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52360" y="141732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91272" y="1472184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7891272" y="1472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507224" y="19659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公開URLを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申込者に共有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294436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一度完了すれば次回以降は不要。設定変更時は再デプロイが必要。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 — 主要設定項目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3840480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設定キー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説明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EVENT_NAME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第〇回 川口花火大会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イベント名（フォームタイトル等に表示）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OFFICE_EMAIL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office@example.com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事務局メールアドレス（CC・通知先）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ORG_NAME / ORG_REP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川口市花火実行委員会 / 川口太郎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主催団体名・代表者名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START_DATE / END_DATE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2025年8月3日 19:00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イベント開催日時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PAYMENT_DUE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2025年7月31日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入金期限日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BANK_NAME / BANK_NO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○○銀行 ○○支店 / 普通1234567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振込先銀行情報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PRICE_B 〜 PRICE_E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100000 等（税抜・円）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各区分の協賛金額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ROOT_FOLDER_ID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1AbCdEfGh...（URLから取得）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保存先Google DriveフォルダID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INVOICE_REG_NO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T1234567890123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インボイス登録番号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MIN_MAIL_QUOTA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5（デフォルト）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メール送信停止閾値（残通数）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 申込みフォームの使い方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申込者向け — 協賛申込みの手順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フォーム画面の構成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3931920"/>
          </a:xfrm>
          <a:prstGeom prst="rect">
            <a:avLst/>
          </a:prstGeom>
          <a:solidFill>
            <a:srgbClr val="ECF0F1"/>
          </a:solidFill>
          <a:ln w="6350">
            <a:solidFill>
              <a:srgbClr val="7F8C8D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solidFill>
            <a:srgbClr val="E0E0E0"/>
          </a:solidFill>
          <a:ln w="6350">
            <a:solidFill>
              <a:srgbClr val="7F8C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7899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078992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078992"/>
            <a:ext cx="164592" cy="16459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0424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https://script.google.com/macros/s/.../exec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353312"/>
            <a:ext cx="8503920" cy="35844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53312"/>
            <a:ext cx="850392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389888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川口花火大会 協賛申込みフォーム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9385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会社名・団体名  ＊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121408"/>
            <a:ext cx="3840480" cy="210312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317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会社名（フリガナ）  ＊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3840480" cy="210312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249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代表者役職・代表者名  ＊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907792"/>
            <a:ext cx="3840480" cy="210312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9385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協賛区分  ＊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2148840"/>
            <a:ext cx="594360" cy="320040"/>
          </a:xfrm>
          <a:prstGeom prst="roundRect">
            <a:avLst>
              <a:gd name="adj" fmla="val 11429"/>
            </a:avLst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30368" y="2148840"/>
            <a:ext cx="594360" cy="320040"/>
          </a:xfrm>
          <a:prstGeom prst="roundRect">
            <a:avLst>
              <a:gd name="adj" fmla="val 11429"/>
            </a:avLst>
          </a:prstGeom>
          <a:solidFill>
            <a:srgbClr val="DCE9F5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88736" y="2148840"/>
            <a:ext cx="594360" cy="320040"/>
          </a:xfrm>
          <a:prstGeom prst="roundRect">
            <a:avLst>
              <a:gd name="adj" fmla="val 11429"/>
            </a:avLst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88736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47104" y="2148840"/>
            <a:ext cx="594360" cy="320040"/>
          </a:xfrm>
          <a:prstGeom prst="roundRect">
            <a:avLst>
              <a:gd name="adj" fmla="val 11429"/>
            </a:avLst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05472" y="2148840"/>
            <a:ext cx="594360" cy="320040"/>
          </a:xfrm>
          <a:prstGeom prst="roundRect">
            <a:avLst>
              <a:gd name="adj" fmla="val 11429"/>
            </a:avLst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2148840"/>
            <a:ext cx="594360" cy="320040"/>
          </a:xfrm>
          <a:prstGeom prst="roundRect">
            <a:avLst>
              <a:gd name="adj" fmla="val 11429"/>
            </a:avLst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2148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578608"/>
            <a:ext cx="79095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6334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  （スクロールすると同意チェックが有効になります）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0" y="315468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154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　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入力項目の説明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3200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入力内容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注意点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会社名・団体名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法人・団体の正式名称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略称不可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会社名（フリガナ）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全角カタカナで入力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ひらがな・漢字不可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代表者役職・代表者名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例：代表取締役 山田太郎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代表者（フリガナ）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全角カタカナ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連絡担当者の氏名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担当者名（フリガナ）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全角カタカナ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郵便番号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ハイフンなし7桁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例：3330852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住所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都道府県から番地まで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電話番号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ハイフンなし10〜11桁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例：0482571111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メールアドレス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連絡先メールアドレス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請求書の送付先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協賛区分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S/A/B/C/D/E から選択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受付期間外は表示なし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会社HP URL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任意入力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https〜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掲載名（任意）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印刷物等への掲載名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空欄→会社名を使用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利用規約への同意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規約を最後まで読んでチェック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スクロール後に有効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協賛区分の選択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931920" cy="32004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42416"/>
            <a:ext cx="37490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 — 抽選制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024128"/>
            <a:ext cx="438912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042416"/>
            <a:ext cx="4206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 — 先着制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1828800" cy="347472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89888"/>
            <a:ext cx="1828800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435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 区分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" y="1984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申込み方式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4904" y="2231136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" y="276148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4904" y="3017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当選通知と同時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" y="372160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904" y="3968496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KUBUN_SA_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7440" y="1389888"/>
            <a:ext cx="1828800" cy="347472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77440" y="1389888"/>
            <a:ext cx="1828800" cy="5029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1435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区分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32304" y="19842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申込み方式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32304" y="2231136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32304" y="276148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32304" y="3017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当選通知と同時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32304" y="372160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32304" y="3968496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KUBUN_SA_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34840" y="1389888"/>
            <a:ext cx="1005840" cy="347472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34840" y="1389888"/>
            <a:ext cx="100584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1435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区分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9704" y="198424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申込み方式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89704" y="2231136"/>
            <a:ext cx="896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9704" y="276148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89704" y="301752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申込み直後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自動送信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9704" y="372160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89704" y="3968496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KUBUN_BCDE_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577840" y="1389888"/>
            <a:ext cx="1005840" cy="347472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1389888"/>
            <a:ext cx="100584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1435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 区分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32704" y="198424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申込み方式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32704" y="2231136"/>
            <a:ext cx="896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先着制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32704" y="276148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32704" y="301752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申込み直後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自動送信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32704" y="372160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32704" y="3968496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KUBUN_BCDE_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720840" y="1389888"/>
            <a:ext cx="1005840" cy="347472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20840" y="1389888"/>
            <a:ext cx="100584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1435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 区分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75704" y="198424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申込み方式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75704" y="2231136"/>
            <a:ext cx="896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先着制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75704" y="276148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75704" y="301752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申込み直後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自動送信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75704" y="372160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75704" y="3968496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KUBUN_BCDE_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863840" y="1389888"/>
            <a:ext cx="1005840" cy="347472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863840" y="1389888"/>
            <a:ext cx="100584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7863840" y="1435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 区分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918704" y="198424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申込み方式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918704" y="2231136"/>
            <a:ext cx="896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先着制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918704" y="276148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918704" y="3017520"/>
            <a:ext cx="896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申込み直後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自動送信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18704" y="3721608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918704" y="3968496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KUBUN_BCDE_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START/END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申込み後の流れ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送信ボタン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を押す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86200" y="1783080"/>
            <a:ext cx="463601" cy="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37914" y="16916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画面に表示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3957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区分により分岐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194560"/>
            <a:ext cx="0" cy="37719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55666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40880" y="2194560"/>
            <a:ext cx="0" cy="37719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55666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3931920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072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331927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319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" y="32644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申込み完了後すぐに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請求書PDF添付メールが届く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86791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" y="381304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メールに記載の口座へ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期限内にお振込みください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441655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4416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" y="43616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入金確認後、事務局より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お礼状メールが届きます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788920"/>
            <a:ext cx="3931920" cy="3474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8072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9472" y="331927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3192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66944" y="32644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申込み後は受付完了の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メールが届きます（PDF無）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9472" y="386791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867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66944" y="381304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抽選結果が決まり次第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別途当落メールをお送りします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19472" y="4416552"/>
            <a:ext cx="256032" cy="25603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4416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66944" y="436168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当選の場合、請求書PDF付き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メールが届きます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 申込みデータの管理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事務局向け — スプレッドシートの操作手順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手作業シートの見方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21792" cy="3108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621792" cy="749808"/>
          </a:xfrm>
          <a:prstGeom prst="rect">
            <a:avLst/>
          </a:prstGeom>
          <a:solidFill>
            <a:srgbClr val="FDE9D4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手入力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33272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33272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33272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00784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6" name="Text 14"/>
          <p:cNvSpPr/>
          <p:nvPr/>
        </p:nvSpPr>
        <p:spPr>
          <a:xfrm>
            <a:off x="1700784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00784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0784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電話番号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00784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68296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1" name="Text 19"/>
          <p:cNvSpPr/>
          <p:nvPr/>
        </p:nvSpPr>
        <p:spPr>
          <a:xfrm>
            <a:off x="2368296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68296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8296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68296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35808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6" name="Text 24"/>
          <p:cNvSpPr/>
          <p:nvPr/>
        </p:nvSpPr>
        <p:spPr>
          <a:xfrm>
            <a:off x="3035808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35808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35808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03320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03320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代表者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03320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70832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6" name="Text 34"/>
          <p:cNvSpPr/>
          <p:nvPr/>
        </p:nvSpPr>
        <p:spPr>
          <a:xfrm>
            <a:off x="4370832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70832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832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70832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38344" y="1051560"/>
            <a:ext cx="621792" cy="31089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1" name="Text 39"/>
          <p:cNvSpPr/>
          <p:nvPr/>
        </p:nvSpPr>
        <p:spPr>
          <a:xfrm>
            <a:off x="5038344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38344" y="1362456"/>
            <a:ext cx="621792" cy="749808"/>
          </a:xfrm>
          <a:prstGeom prst="rect">
            <a:avLst/>
          </a:prstGeom>
          <a:solidFill>
            <a:srgbClr val="DCE9F5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38344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38344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05856" y="1051560"/>
            <a:ext cx="621792" cy="3108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5705856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05856" y="1362456"/>
            <a:ext cx="621792" cy="749808"/>
          </a:xfrm>
          <a:prstGeom prst="rect">
            <a:avLst/>
          </a:prstGeom>
          <a:solidFill>
            <a:srgbClr val="D5F0E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705856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☑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73368" y="1051560"/>
            <a:ext cx="621792" cy="3108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6373368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73368" y="1362456"/>
            <a:ext cx="621792" cy="749808"/>
          </a:xfrm>
          <a:prstGeom prst="rect">
            <a:avLst/>
          </a:prstGeom>
          <a:solidFill>
            <a:srgbClr val="FEF9E7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送信日時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73368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40880" y="1051560"/>
            <a:ext cx="621792" cy="3108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7040880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040880" y="1362456"/>
            <a:ext cx="621792" cy="749808"/>
          </a:xfrm>
          <a:prstGeom prst="rect">
            <a:avLst/>
          </a:prstGeom>
          <a:solidFill>
            <a:srgbClr val="D5F0E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40880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入金完了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40880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☑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708392" y="1051560"/>
            <a:ext cx="621792" cy="3108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1" name="Text 59"/>
          <p:cNvSpPr/>
          <p:nvPr/>
        </p:nvSpPr>
        <p:spPr>
          <a:xfrm>
            <a:off x="7708392" y="1051560"/>
            <a:ext cx="621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708392" y="1362456"/>
            <a:ext cx="621792" cy="749808"/>
          </a:xfrm>
          <a:prstGeom prst="rect">
            <a:avLst/>
          </a:prstGeom>
          <a:solidFill>
            <a:srgbClr val="FEF9E7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08392" y="1417320"/>
            <a:ext cx="621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送信日時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708392" y="1837944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2167128"/>
            <a:ext cx="667512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220370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手入力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78992" y="2167128"/>
            <a:ext cx="5340096" cy="0"/>
          </a:xfrm>
          <a:prstGeom prst="line">
            <a:avLst/>
          </a:prstGeom>
          <a:noFill/>
          <a:ln w="19050">
            <a:solidFill>
              <a:srgbClr val="2E6DA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28800" y="22037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XLOOKUP 自動取得 →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64808" y="2167128"/>
            <a:ext cx="1335024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22037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チェックボックス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836408" y="2167128"/>
            <a:ext cx="1042416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63840" y="22037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自動タイムスタンプ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65760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5760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KWGC001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33272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3272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700784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700784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090-1234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368296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68296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株式会社ABC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035808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35808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東京都...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703320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03320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370832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70832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038344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38344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705856" y="2523744"/>
            <a:ext cx="621792" cy="274320"/>
          </a:xfrm>
          <a:prstGeom prst="rect">
            <a:avLst/>
          </a:prstGeom>
          <a:solidFill>
            <a:srgbClr val="D5F0E0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05856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373368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73368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2025/6/18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7040880" y="2523744"/>
            <a:ext cx="621792" cy="274320"/>
          </a:xfrm>
          <a:prstGeom prst="rect">
            <a:avLst/>
          </a:prstGeom>
          <a:solidFill>
            <a:srgbClr val="D5F0E0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40880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7708392" y="252374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708392" y="256032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2025/6/20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365760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KWGC002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033272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33272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700784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00784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03-5678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368296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368296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山田商会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3035808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35808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埼玉県...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703320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703320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370832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70832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038344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038344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705856" y="2843784"/>
            <a:ext cx="621792" cy="274320"/>
          </a:xfrm>
          <a:prstGeom prst="rect">
            <a:avLst/>
          </a:prstGeom>
          <a:solidFill>
            <a:srgbClr val="D5F0E0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705856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6373368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373368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2025/6/19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7040880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040880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7708392" y="2843784"/>
            <a:ext cx="621792" cy="274320"/>
          </a:xfrm>
          <a:prstGeom prst="rect">
            <a:avLst/>
          </a:prstGeom>
          <a:solidFill>
            <a:srgbClr val="F0F5FB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708392" y="288036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365760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5760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KWGC003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033272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33272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700784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700784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048-9012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2368296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68296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花火製作所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3035808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035808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川口市...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703320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703320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4370832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370832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5038344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038344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5705856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705856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6373368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373368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7040880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040880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7708392" y="3163824"/>
            <a:ext cx="62179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CE9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08392" y="3200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受付番号の入力方法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9304"/>
            <a:ext cx="347472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9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8813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申込み一覧シートを確認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399032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「協賛申込み一覧」シートを開き、新しい申込み行のA列（受付番号）を確認します。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8503920" cy="82296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76856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76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0756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受付番号をコピー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386584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受付番号のセルを選択してコピーします（Ctrl+C / Cmd+C）。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手入力は誤りの原因になるため必ずコピーしてください。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26664"/>
            <a:ext cx="8503920" cy="82296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6440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64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063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手作業シートに貼り付け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74136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「手作業」シートを開き、空いているA列の行に貼り付けます。B〜H列のデータが自動で入力されます。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14216"/>
            <a:ext cx="8503920" cy="82296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251960"/>
            <a:ext cx="347472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0507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内容を確認して次へ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36168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B〜H列の情報が正しいことを確認します。問題なければ次のステップ（請求書送信）へ進みます。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9377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受付番号例：KWGC0618120530123　（prefix + yyyyMMddHHmmssSSS）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 請求書メールの送信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事務局向け — 請求書送信の確認手順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メール送信タイミング一覧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5943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09728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申込み直後（自動）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783080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フォーム送信と同時に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自動でメールが送信されます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2697480"/>
            <a:ext cx="2596896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283464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3136392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" y="3657600"/>
            <a:ext cx="2596896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" y="3840480"/>
            <a:ext cx="2596896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担当者の操作不要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743200" cy="384048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51560"/>
            <a:ext cx="2743200" cy="59436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7" name="Text 15"/>
          <p:cNvSpPr/>
          <p:nvPr/>
        </p:nvSpPr>
        <p:spPr>
          <a:xfrm>
            <a:off x="3319272" y="109728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1783080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担当者がI列をチェックし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確認ダイアログで送信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2697480"/>
            <a:ext cx="2596896" cy="3657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283464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3136392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19272" y="3657600"/>
            <a:ext cx="2596896" cy="36576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19272" y="3840480"/>
            <a:ext cx="2596896" cy="80467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担当者が確認して送信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743200" cy="384048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051560"/>
            <a:ext cx="274320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109728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全区分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入金完了チェック後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1783080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担当者がK列をチェックし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確認ダイアログで送信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2697480"/>
            <a:ext cx="2596896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6245352" y="2834640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45352" y="3136392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お礼状PDF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45352" y="3657600"/>
            <a:ext cx="2596896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3840480"/>
            <a:ext cx="2596896" cy="8046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886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J列に日時があること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請求書メール送信の手順（S・A区分）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303520" cy="64008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97864"/>
            <a:ext cx="347472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97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0642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「手作業」シートで対象の行（B列が S または A の行）を確認します。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5303520" cy="6400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47672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47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5623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I列（受付完了）のチェックボックスをクリックします。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51176"/>
            <a:ext cx="5303520" cy="64008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97480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6060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確認ダイアログが表示されます。会社名・区分・金額を確認します。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00984"/>
            <a:ext cx="5303520" cy="6400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447288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3558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「送信する」ボタンをクリックします。（「キャンセル」で操作を中止できます）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50792"/>
            <a:ext cx="5303520" cy="64008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197096"/>
            <a:ext cx="347472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10565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J列（請求書送信日時）に送信日時が自動的に記録されます。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960120"/>
            <a:ext cx="29718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960120"/>
            <a:ext cx="297180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98755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請求書送信の確認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15087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以下の申込者に送信します。
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会社名：株式会社サンプル
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区分：A区分　金額：¥50,000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2487168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4871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送信する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2487168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キャンセル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611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確認ダイアログ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68172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送信済みの場合: J列に日時が入力されていれば送信完了。再チェックすると「送信済み」の警告が表示され二重送信を防止します。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 入金確認とお礼状送信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事務局向け — 入金確認後の手順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入金確認とお礼状送信の手順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303520" cy="640080"/>
          </a:xfrm>
          <a:prstGeom prst="rect">
            <a:avLst/>
          </a:prstGeom>
          <a:solidFill>
            <a:srgbClr val="DCE9F5"/>
          </a:solidFill>
          <a:ln w="1905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97864"/>
            <a:ext cx="347472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97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10642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銀行の入金確認を行い、振込人名と受付番号を照合します。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5303520" cy="64008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47672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47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85623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「手作業」シートで対象の行を確認。J列（請求書送信日時）に値があることを確認します。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585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J列が空の場合はK列チェック不可！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551176"/>
            <a:ext cx="5303520" cy="6400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9748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K列（入金完了）のチェックボックスをクリックします。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00984"/>
            <a:ext cx="5303520" cy="64008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44728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3558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確認ダイアログが表示されます。会社名・区分を確認します。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050792"/>
            <a:ext cx="5303520" cy="64008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197096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10565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「送信する」をクリック。L列（お礼状送信日時）に送信日時が自動記録されます。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960120"/>
            <a:ext cx="29718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960120"/>
            <a:ext cx="297180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98755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お礼状送信の確認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150876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入金を確認しました。
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お礼状メールを送信します。
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会社名：山田商会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区分：B区分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2487168"/>
            <a:ext cx="1143000" cy="365760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24871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送信する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2487168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487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キャンセル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611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お礼状送信ダイアログ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メールクォータの管理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Gmailの1日あたり送信上限（無料：50通/日）。自動で監視し、不足時に通知します。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42900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　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残り通数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MIN_MAIL_QUOTA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システムの動作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通常通り動作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制限なし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対応方法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対応不要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417320"/>
            <a:ext cx="2743200" cy="3429000"/>
          </a:xfrm>
          <a:prstGeom prst="rect">
            <a:avLst/>
          </a:prstGeom>
          <a:solidFill>
            <a:srgbClr val="FDE9D4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417320"/>
            <a:ext cx="274320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警　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残り通数 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MIN_MAIL_QUOTA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システムの動作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管理者（OFFICE_EMAIL）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に警告メールを送信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フォームは引き続き受付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対応方法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翌日まで待つか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手動対応に切替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417320"/>
            <a:ext cx="2743200" cy="3429000"/>
          </a:xfrm>
          <a:prstGeom prst="rect">
            <a:avLst/>
          </a:prstGeom>
          <a:solidFill>
            <a:srgbClr val="FCE4E4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417320"/>
            <a:ext cx="2743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上限超過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6364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残り通数 = 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システムの動作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063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Webフォームの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受付を停止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エラー画面を表示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対応方法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翌日（太平洋時間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深夜）のリセットを待つ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よくある質問（FAQ）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65836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1152144"/>
            <a:ext cx="0" cy="512064"/>
          </a:xfrm>
          <a:prstGeom prst="line">
            <a:avLst/>
          </a:prstGeom>
          <a:noFill/>
          <a:ln w="10160">
            <a:solidFill>
              <a:srgbClr val="DCE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06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申込み後にメールが届きません。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380744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 ①迷惑メールフォルダをご確認ください。②事務局のGmailクォータが上限に達している場合があります。翌日以降に届くか、事務局から手動でご連絡します。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47088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" y="1920240"/>
            <a:ext cx="0" cy="512064"/>
          </a:xfrm>
          <a:prstGeom prst="line">
            <a:avLst/>
          </a:prstGeom>
          <a:noFill/>
          <a:ln w="10160">
            <a:solidFill>
              <a:srgbClr val="DC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フォームで区分が選択できません。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148840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 申込み受付期間外の場合、該当区分は表示されません。InfoシートのKUBUN_SA_START/ENDまたはKUBUN_BCDE_START/ENDの日付設定をご確認ください。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8503920" cy="65836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15184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" y="2688336"/>
            <a:ext cx="0" cy="512064"/>
          </a:xfrm>
          <a:prstGeom prst="line">
            <a:avLst/>
          </a:prstGeom>
          <a:noFill/>
          <a:ln w="10160">
            <a:solidFill>
              <a:srgbClr val="DCE9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642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手作業シートにデータが表示されません（XLOOKUP が機能しない）。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916936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 受付番号が正確に入力されているか確認してください。スペースや全角・半角の違いが原因のことが多いです。「協賛申込み一覧」シートからコピー＆ペーストすることを推奨します。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83280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" y="3456432"/>
            <a:ext cx="0" cy="512064"/>
          </a:xfrm>
          <a:prstGeom prst="line">
            <a:avLst/>
          </a:prstGeom>
          <a:noFill/>
          <a:ln w="10160">
            <a:solidFill>
              <a:srgbClr val="DCE9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請求書のインボイス登録番号が空欄です。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685032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 InfoシートのINVOICE_REG_NOに正しい登録番号（T＋13桁）を入力してください。入力後、「WebHanabi」→「設定を同期」を実行してください。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4151376"/>
            <a:ext cx="8503920" cy="658368"/>
          </a:xfrm>
          <a:prstGeom prst="rect">
            <a:avLst/>
          </a:prstGeom>
          <a:solidFill>
            <a:srgbClr val="F0F5FB"/>
          </a:solidFill>
          <a:ln w="6350">
            <a:solidFill>
              <a:srgbClr val="DCE9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151376"/>
            <a:ext cx="347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A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3232" y="4224528"/>
            <a:ext cx="0" cy="512064"/>
          </a:xfrm>
          <a:prstGeom prst="line">
            <a:avLst/>
          </a:prstGeom>
          <a:noFill/>
          <a:ln w="10160">
            <a:solidFill>
              <a:srgbClr val="DCE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K列（入金完了）にチェックできません。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4453128"/>
            <a:ext cx="7909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 J列（請求書送信日時）に値が入っているかを確認してください。J列が空の場合はK列をチェックできません。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ご不明な点はお気軽に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事務局へご連絡ください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— 川口花火大会 協賛管理システム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99232"/>
            <a:ext cx="8229600" cy="43891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01752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申込みフォームURL：事務局より共有済みのURLをご利用ください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47872"/>
            <a:ext cx="8229600" cy="43891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56616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お問い合わせ先：InfoシートのOFFICE_EMAIL に設定されたアドレス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96512"/>
            <a:ext cx="8229600" cy="438912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11480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操作不明時：本マニュアルの各セクションをご参照ください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操作マニュアル — WebHanabi</dc:title>
  <dc:subject>PptxGenJS Presentation</dc:subject>
  <dc:creator>PptxGenJS</dc:creator>
  <cp:lastModifiedBy>PptxGenJS</cp:lastModifiedBy>
  <cp:revision>1</cp:revision>
  <dcterms:created xsi:type="dcterms:W3CDTF">2026-06-18T13:31:04Z</dcterms:created>
  <dcterms:modified xsi:type="dcterms:W3CDTF">2026-06-18T13:31:04Z</dcterms:modified>
</cp:coreProperties>
</file>